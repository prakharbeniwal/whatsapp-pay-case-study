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075E54"/>
              </a:solidFill>
              <a:ln>
                <a:noFill/>
              </a:ln>
            </c:spPr>
          </c:dPt>
          <c:dPt>
            <c:idx val="1"/>
            <c:spPr>
              <a:solidFill>
                <a:srgbClr val="34B7F1"/>
              </a:solidFill>
              <a:ln>
                <a:noFill/>
              </a:ln>
            </c:spPr>
          </c:dPt>
          <c:dPt>
            <c:idx val="2"/>
            <c:spPr>
              <a:solidFill>
                <a:srgbClr val="F4A261"/>
              </a:solidFill>
              <a:ln>
                <a:noFill/>
              </a:ln>
            </c:spPr>
          </c:dPt>
          <c:dPt>
            <c:idx val="3"/>
            <c:spPr>
              <a:solidFill>
                <a:srgbClr val="8D99AE"/>
              </a:solidFill>
              <a:ln>
                <a:noFill/>
              </a:ln>
            </c:spPr>
          </c:dPt>
          <c:dPt>
            <c:idx val="4"/>
            <c:spPr>
              <a:solidFill>
                <a:srgbClr val="25D366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PhonePe</c:v>
                </c:pt>
                <c:pt idx="1">
                  <c:v>Google Pay</c:v>
                </c:pt>
                <c:pt idx="2">
                  <c:v>Paytm</c:v>
                </c:pt>
                <c:pt idx="3">
                  <c:v>Others</c:v>
                </c:pt>
                <c:pt idx="4">
                  <c:v>WhatsApp Pay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</c:v>
                </c:pt>
                <c:pt idx="1">
                  <c:v>36</c:v>
                </c:pt>
                <c:pt idx="2">
                  <c:v>7</c:v>
                </c:pt>
                <c:pt idx="3">
                  <c:v>9</c:v>
                </c:pt>
                <c:pt idx="4">
                  <c:v>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8D99AE"/>
              </a:solidFill>
              <a:ln>
                <a:noFill/>
              </a:ln>
            </c:spPr>
          </c:dPt>
          <c:dPt>
            <c:idx val="1"/>
            <c:spPr>
              <a:solidFill>
                <a:srgbClr val="8D99AE"/>
              </a:solidFill>
              <a:ln>
                <a:noFill/>
              </a:ln>
            </c:spPr>
          </c:dPt>
          <c:dPt>
            <c:idx val="2"/>
            <c:spPr>
              <a:solidFill>
                <a:srgbClr val="128C7E"/>
              </a:solidFill>
              <a:ln>
                <a:noFill/>
              </a:ln>
            </c:spPr>
          </c:dPt>
          <c:dPt>
            <c:idx val="3"/>
            <c:spPr>
              <a:solidFill>
                <a:srgbClr val="128C7E"/>
              </a:solidFill>
              <a:ln>
                <a:noFill/>
              </a:ln>
            </c:spPr>
          </c:dPt>
          <c:dPt>
            <c:idx val="4"/>
            <c:spPr>
              <a:solidFill>
                <a:srgbClr val="F4A261"/>
              </a:solidFill>
              <a:ln>
                <a:noFill/>
              </a:ln>
            </c:spPr>
          </c:dPt>
          <c:dPt>
            <c:idx val="5"/>
            <c:spPr>
              <a:solidFill>
                <a:srgbClr val="075E54"/>
              </a:solidFill>
              <a:ln>
                <a:noFill/>
              </a:ln>
            </c:spPr>
          </c:dPt>
          <c:dPt>
            <c:idx val="6"/>
            <c:spPr>
              <a:solidFill>
                <a:srgbClr val="075E54"/>
              </a:solidFill>
              <a:ln>
                <a:noFill/>
              </a:ln>
            </c:spPr>
          </c:dPt>
          <c:cat>
            <c:strRef>
              <c:f>Sheet1!$A$2:$A$8</c:f>
              <c:strCache>
                <c:ptCount val="7"/>
                <c:pt idx="0">
                  <c:v>UX discoverability</c:v>
                </c:pt>
                <c:pt idx="1">
                  <c:v>Trust / scam perception</c:v>
                </c:pt>
                <c:pt idx="2">
                  <c:v>Habit loop never closed</c:v>
                </c:pt>
                <c:pt idx="3">
                  <c:v>No merchant-acquisition engine</c:v>
                </c:pt>
                <c:pt idx="4">
                  <c:v>Late regulatory clearance (~3-yr window lost)</c:v>
                </c:pt>
                <c:pt idx="5">
                  <c:v>No LTV / monetization model</c:v>
                </c:pt>
                <c:pt idx="6">
                  <c:v>Meta's strategic non-commitment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4.8</c:v>
                </c:pt>
                <c:pt idx="1">
                  <c:v>5.2</c:v>
                </c:pt>
                <c:pt idx="2">
                  <c:v>6.4</c:v>
                </c:pt>
                <c:pt idx="3">
                  <c:v>7.1</c:v>
                </c:pt>
                <c:pt idx="4">
                  <c:v>7.5</c:v>
                </c:pt>
                <c:pt idx="5">
                  <c:v>8.8</c:v>
                </c:pt>
                <c:pt idx="6">
                  <c:v>9.2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>
                  <a:solidFill>
                    <a:srgbClr val="1A1A1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1000">
                <a:solidFill>
                  <a:srgbClr val="1A1A1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8D99AE"/>
              </a:solidFill>
              <a:ln>
                <a:noFill/>
              </a:ln>
            </c:spPr>
          </c:dPt>
          <c:dPt>
            <c:idx val="1"/>
            <c:spPr>
              <a:solidFill>
                <a:srgbClr val="128C7E"/>
              </a:solidFill>
              <a:ln>
                <a:noFill/>
              </a:ln>
            </c:spPr>
          </c:dPt>
          <c:dPt>
            <c:idx val="2"/>
            <c:spPr>
              <a:solidFill>
                <a:srgbClr val="075E54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075E54"/>
                        </a:solidFill>
                        <a:latin typeface="Calibri"/>
                      </a:rPr>
                      <a:t>₹0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075E54"/>
                        </a:solidFill>
                        <a:latin typeface="Calibri"/>
                      </a:rPr>
                      <a:t>₹50–200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075E54"/>
                        </a:solidFill>
                        <a:latin typeface="Calibri"/>
                      </a:rPr>
                      <a:t>₹500–2,000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TODAY</c:v>
                </c:pt>
                <c:pt idx="1">
                  <c:v>12–18 MONTHS</c:v>
                </c:pt>
                <c:pt idx="2">
                  <c:v>24–36 MONTHS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200</c:v>
                </c:pt>
                <c:pt idx="2">
                  <c:v>1250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 b="1">
                <a:solidFill>
                  <a:srgbClr val="1A1A1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5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8D99AE"/>
              </a:solidFill>
              <a:ln>
                <a:noFill/>
              </a:ln>
            </c:spPr>
          </c:dPt>
          <c:dPt>
            <c:idx val="1"/>
            <c:spPr>
              <a:solidFill>
                <a:srgbClr val="8D99AE"/>
              </a:solidFill>
              <a:ln>
                <a:noFill/>
              </a:ln>
            </c:spPr>
          </c:dPt>
          <c:dPt>
            <c:idx val="2"/>
            <c:spPr>
              <a:solidFill>
                <a:srgbClr val="128C7E"/>
              </a:solidFill>
              <a:ln>
                <a:noFill/>
              </a:ln>
            </c:spPr>
          </c:dPt>
          <c:dPt>
            <c:idx val="3"/>
            <c:spPr>
              <a:solidFill>
                <a:srgbClr val="128C7E"/>
              </a:solidFill>
              <a:ln>
                <a:noFill/>
              </a:ln>
            </c:spPr>
          </c:dPt>
          <c:dPt>
            <c:idx val="4"/>
            <c:spPr>
              <a:solidFill>
                <a:srgbClr val="075E54"/>
              </a:solidFill>
              <a:ln>
                <a:noFill/>
              </a:ln>
            </c:spPr>
          </c:dPt>
          <c:dPt>
            <c:idx val="5"/>
            <c:spPr>
              <a:solidFill>
                <a:srgbClr val="128C7E"/>
              </a:solidFill>
              <a:ln>
                <a:noFill/>
              </a:ln>
            </c:spPr>
          </c:dPt>
          <c:dPt>
            <c:idx val="6"/>
            <c:spPr>
              <a:solidFill>
                <a:srgbClr val="25D366"/>
              </a:solidFill>
              <a:ln>
                <a:noFill/>
              </a:ln>
            </c:spPr>
          </c:dPt>
          <c:dPt>
            <c:idx val="7"/>
            <c:spPr>
              <a:solidFill>
                <a:srgbClr val="128C7E"/>
              </a:solidFill>
              <a:ln>
                <a:noFill/>
              </a:ln>
            </c:spPr>
          </c:dPt>
          <c:dPt>
            <c:idx val="8"/>
            <c:spPr>
              <a:solidFill>
                <a:srgbClr val="075E54"/>
              </a:solidFill>
              <a:ln>
                <a:noFill/>
              </a:ln>
            </c:spPr>
          </c:dPt>
          <c:dPt>
            <c:idx val="9"/>
            <c:spPr>
              <a:solidFill>
                <a:srgbClr val="075E54"/>
              </a:solidFill>
              <a:ln>
                <a:noFill/>
              </a:ln>
            </c:spPr>
          </c:dPt>
          <c:cat>
            <c:strRef>
              <c:f>Sheet1!$A$2:$A$11</c:f>
              <c:strCache>
                <c:ptCount val="10"/>
                <c:pt idx="0">
                  <c:v>Insurance Micro-Products</c:v>
                </c:pt>
                <c:pt idx="1">
                  <c:v>Cross-Border / NRI Remittance</c:v>
                </c:pt>
                <c:pt idx="2">
                  <c:v>Soundbox-Equivalent Audio Confirm</c:v>
                </c:pt>
                <c:pt idx="3">
                  <c:v>In-Chat B2B Invoice + Pay</c:v>
                </c:pt>
                <c:pt idx="4">
                  <c:v>RuPay Credit-on-UPI</c:v>
                </c:pt>
                <c:pt idx="5">
                  <c:v>Grocery Anchor Partnership</c:v>
                </c:pt>
                <c:pt idx="6">
                  <c:v>Red-Packet Viral Loop</c:v>
                </c:pt>
                <c:pt idx="7">
                  <c:v>WhatsApp Business Merchant Army</c:v>
                </c:pt>
                <c:pt idx="8">
                  <c:v>CTWA Closed-Loop Settlement</c:v>
                </c:pt>
                <c:pt idx="9">
                  <c:v>Merchant-Lending Engine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64</c:v>
                </c:pt>
                <c:pt idx="1">
                  <c:v>68</c:v>
                </c:pt>
                <c:pt idx="2">
                  <c:v>72</c:v>
                </c:pt>
                <c:pt idx="3">
                  <c:v>76</c:v>
                </c:pt>
                <c:pt idx="4">
                  <c:v>80</c:v>
                </c:pt>
                <c:pt idx="5">
                  <c:v>85</c:v>
                </c:pt>
                <c:pt idx="6">
                  <c:v>88</c:v>
                </c:pt>
                <c:pt idx="7">
                  <c:v>95</c:v>
                </c:pt>
                <c:pt idx="8">
                  <c:v>98</c:v>
                </c:pt>
                <c:pt idx="9">
                  <c:v>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1A1A1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1000">
                <a:solidFill>
                  <a:srgbClr val="1A1A1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6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502920"/>
            <a:ext cx="4873752" cy="51206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36000" b="1">
                <a:solidFill>
                  <a:srgbClr val="075E54"/>
                </a:solidFill>
                <a:latin typeface="Calibri"/>
              </a:rPr>
              <a:t>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17373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500 Million Users.  ₹0 Revenue.</a:t>
            </a:r>
          </a:p>
          <a:p>
            <a:pPr algn="ctr"/>
            <a:r>
              <a:rPr sz="4000" b="1">
                <a:solidFill>
                  <a:srgbClr val="25D366"/>
                </a:solidFill>
                <a:latin typeface="Calibri"/>
              </a:rPr>
              <a:t>Why WhatsApp Pay Lost India.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7448" y="3456432"/>
            <a:ext cx="2743200" cy="36576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611880"/>
            <a:ext cx="9445752" cy="6400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A Product Strategy Case Study  —  Competitive Teardown  →  Root-Cause Diagnosis  →  Rejuvenation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6647" y="443484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 PHASES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6967" y="443484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84,000+ 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443484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51 SOLUTIONS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47607" y="443484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RICE-PRIORITIZED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200" b="0">
                <a:solidFill>
                  <a:srgbClr val="8D99AE"/>
                </a:solidFill>
                <a:latin typeface="Calibri"/>
              </a:rPr>
              <a:t>[Your Name]  ·  PM 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6263640"/>
            <a:ext cx="5513832" cy="3657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r"/>
            <a:r>
              <a:rPr sz="1200" b="0">
                <a:solidFill>
                  <a:srgbClr val="8D99AE"/>
                </a:solidFill>
                <a:latin typeface="Calibri"/>
              </a:rPr>
              <a:t>fahadahmed982004@gmail.com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869680" cy="74980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The Paradox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274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8D99AE"/>
                </a:solidFill>
                <a:latin typeface="Calibri"/>
              </a:rPr>
              <a:t>WhatsApp Pay India  —  Product Strategy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73952"/>
            <a:ext cx="1856231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r"/>
            <a:r>
              <a:rPr sz="1000" b="1">
                <a:solidFill>
                  <a:srgbClr val="8D99AE"/>
                </a:solidFill>
                <a:latin typeface="Calibri"/>
              </a:rPr>
              <a:t>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212080" cy="4251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5212080" cy="502920"/>
          </a:xfrm>
          <a:prstGeom prst="roundRect">
            <a:avLst>
              <a:gd name="adj" fmla="val 6000"/>
            </a:avLst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5212080" cy="5029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WHAT WHATSAPP HAD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9672" y="1234440"/>
            <a:ext cx="5212080" cy="4251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19672" y="1234440"/>
            <a:ext cx="5212080" cy="502920"/>
          </a:xfrm>
          <a:prstGeom prst="roundRect">
            <a:avLst>
              <a:gd name="adj" fmla="val 6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234440"/>
            <a:ext cx="5212080" cy="5029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WHAT WHATSAPP GOT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1993392"/>
            <a:ext cx="402336" cy="402336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1938528"/>
            <a:ext cx="4343400" cy="5486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500M+ users  </a:t>
            </a:r>
            <a:r>
              <a:rPr sz="1150" b="0">
                <a:solidFill>
                  <a:srgbClr val="8D99AE"/>
                </a:solidFill>
                <a:latin typeface="Calibri"/>
              </a:rPr>
              <a:t>·  most-used app in India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2651760"/>
            <a:ext cx="402336" cy="402336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596896"/>
            <a:ext cx="4343400" cy="5486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Zero CAC  </a:t>
            </a:r>
            <a:r>
              <a:rPr sz="1150" b="0">
                <a:solidFill>
                  <a:srgbClr val="8D99AE"/>
                </a:solidFill>
                <a:latin typeface="Calibri"/>
              </a:rPr>
              <a:t>·  pre-installed audience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310128"/>
            <a:ext cx="402336" cy="402336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255264"/>
            <a:ext cx="4343400" cy="5486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$19B  </a:t>
            </a:r>
            <a:r>
              <a:rPr sz="1150" b="0">
                <a:solidFill>
                  <a:srgbClr val="8D99AE"/>
                </a:solidFill>
                <a:latin typeface="Calibri"/>
              </a:rPr>
              <a:t>·  Meta's backing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3968496"/>
            <a:ext cx="402336" cy="402336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913632"/>
            <a:ext cx="4343400" cy="5486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Chat-native  </a:t>
            </a:r>
            <a:r>
              <a:rPr sz="1150" b="0">
                <a:solidFill>
                  <a:srgbClr val="8D99AE"/>
                </a:solidFill>
                <a:latin typeface="Calibri"/>
              </a:rPr>
              <a:t>·  no app-switch friction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4626864"/>
            <a:ext cx="402336" cy="402336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572000"/>
            <a:ext cx="4343400" cy="5486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15M  </a:t>
            </a:r>
            <a:r>
              <a:rPr sz="1150" b="0">
                <a:solidFill>
                  <a:srgbClr val="8D99AE"/>
                </a:solidFill>
                <a:latin typeface="Calibri"/>
              </a:rPr>
              <a:t>·  WhatsApp Business accounts</a:t>
            </a:r>
          </a:p>
        </p:txBody>
      </p:sp>
      <p:sp>
        <p:nvSpPr>
          <p:cNvPr id="24" name="Oval 23"/>
          <p:cNvSpPr/>
          <p:nvPr/>
        </p:nvSpPr>
        <p:spPr>
          <a:xfrm>
            <a:off x="6748272" y="1993392"/>
            <a:ext cx="402336" cy="402336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1938528"/>
            <a:ext cx="4343400" cy="5486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&lt;1%  </a:t>
            </a:r>
            <a:r>
              <a:rPr sz="1150" b="0">
                <a:solidFill>
                  <a:srgbClr val="8D99AE"/>
                </a:solidFill>
                <a:latin typeface="Calibri"/>
              </a:rPr>
              <a:t>·  UPI market share</a:t>
            </a:r>
          </a:p>
        </p:txBody>
      </p:sp>
      <p:sp>
        <p:nvSpPr>
          <p:cNvPr id="26" name="Oval 25"/>
          <p:cNvSpPr/>
          <p:nvPr/>
        </p:nvSpPr>
        <p:spPr>
          <a:xfrm>
            <a:off x="6748272" y="2651760"/>
            <a:ext cx="402336" cy="402336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2596896"/>
            <a:ext cx="4343400" cy="5486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Rank #4  </a:t>
            </a:r>
            <a:r>
              <a:rPr sz="1150" b="0">
                <a:solidFill>
                  <a:srgbClr val="8D99AE"/>
                </a:solidFill>
                <a:latin typeface="Calibri"/>
              </a:rPr>
              <a:t>·  behind PhonePe, GPay, Paytm</a:t>
            </a:r>
          </a:p>
        </p:txBody>
      </p:sp>
      <p:sp>
        <p:nvSpPr>
          <p:cNvPr id="28" name="Oval 27"/>
          <p:cNvSpPr/>
          <p:nvPr/>
        </p:nvSpPr>
        <p:spPr>
          <a:xfrm>
            <a:off x="6748272" y="3310128"/>
            <a:ext cx="402336" cy="402336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6912" y="3255264"/>
            <a:ext cx="4343400" cy="5486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&lt;10M  </a:t>
            </a:r>
            <a:r>
              <a:rPr sz="1150" b="0">
                <a:solidFill>
                  <a:srgbClr val="8D99AE"/>
                </a:solidFill>
                <a:latin typeface="Calibri"/>
              </a:rPr>
              <a:t>·  active P2M payers (of ~100M)</a:t>
            </a:r>
          </a:p>
        </p:txBody>
      </p:sp>
      <p:sp>
        <p:nvSpPr>
          <p:cNvPr id="30" name="Oval 29"/>
          <p:cNvSpPr/>
          <p:nvPr/>
        </p:nvSpPr>
        <p:spPr>
          <a:xfrm>
            <a:off x="6748272" y="3968496"/>
            <a:ext cx="402336" cy="402336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913632"/>
            <a:ext cx="4343400" cy="5486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₹0  </a:t>
            </a:r>
            <a:r>
              <a:rPr sz="1150" b="0">
                <a:solidFill>
                  <a:srgbClr val="8D99AE"/>
                </a:solidFill>
                <a:latin typeface="Calibri"/>
              </a:rPr>
              <a:t>·  revenue under zero-MDR</a:t>
            </a:r>
          </a:p>
        </p:txBody>
      </p:sp>
      <p:sp>
        <p:nvSpPr>
          <p:cNvPr id="32" name="Oval 31"/>
          <p:cNvSpPr/>
          <p:nvPr/>
        </p:nvSpPr>
        <p:spPr>
          <a:xfrm>
            <a:off x="6748272" y="4626864"/>
            <a:ext cx="402336" cy="402336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6912" y="4572000"/>
            <a:ext cx="4343400" cy="5486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Near-zero  </a:t>
            </a:r>
            <a:r>
              <a:rPr sz="1150" b="0">
                <a:solidFill>
                  <a:srgbClr val="8D99AE"/>
                </a:solidFill>
                <a:latin typeface="Calibri"/>
              </a:rPr>
              <a:t>·  merchant acceptance</a:t>
            </a:r>
          </a:p>
        </p:txBody>
      </p:sp>
      <p:sp>
        <p:nvSpPr>
          <p:cNvPr id="34" name="Oval 33"/>
          <p:cNvSpPr/>
          <p:nvPr/>
        </p:nvSpPr>
        <p:spPr>
          <a:xfrm>
            <a:off x="5769864" y="3063240"/>
            <a:ext cx="658368" cy="658368"/>
          </a:xfrm>
          <a:prstGeom prst="ellipse">
            <a:avLst/>
          </a:prstGeom>
          <a:solidFill>
            <a:srgbClr val="25D3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VS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6000"/>
            </a:avLst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715000"/>
            <a:ext cx="11274552" cy="56692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The most-distributed payment app in history processed the fewest payments. 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869680" cy="74980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How I Approached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274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8D99AE"/>
                </a:solidFill>
                <a:latin typeface="Calibri"/>
              </a:rPr>
              <a:t>WhatsApp Pay India  —  Product Strategy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73952"/>
            <a:ext cx="1856231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r"/>
            <a:r>
              <a:rPr sz="1000" b="1">
                <a:solidFill>
                  <a:srgbClr val="8D99AE"/>
                </a:solidFill>
                <a:latin typeface="Calibri"/>
              </a:rPr>
              <a:t>3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007" y="1600200"/>
            <a:ext cx="3383280" cy="2697480"/>
          </a:xfrm>
          <a:prstGeom prst="roundRect">
            <a:avLst>
              <a:gd name="adj" fmla="val 5000"/>
            </a:avLst>
          </a:prstGeom>
          <a:solidFill>
            <a:srgbClr val="1AA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53031" y="1280160"/>
            <a:ext cx="713232" cy="7132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A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075E54"/>
                </a:solidFill>
                <a:latin typeface="Calibri"/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2148840"/>
            <a:ext cx="3017520" cy="2011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CFF3E8"/>
                </a:solidFill>
                <a:latin typeface="Calibri"/>
              </a:rPr>
              <a:t>PHASE 1</a:t>
            </a:r>
          </a:p>
          <a:p>
            <a:pPr algn="ctr">
              <a:spcAft>
                <a:spcPts val="8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TEARDOWN</a:t>
            </a:r>
          </a:p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Market + competitive + regulatory intel · 10 lenses · fact-checked</a:t>
            </a:r>
          </a:p>
        </p:txBody>
      </p:sp>
      <p:sp>
        <p:nvSpPr>
          <p:cNvPr id="11" name="Oval 10"/>
          <p:cNvSpPr/>
          <p:nvPr/>
        </p:nvSpPr>
        <p:spPr>
          <a:xfrm>
            <a:off x="3956151" y="2697480"/>
            <a:ext cx="393192" cy="393192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4207" y="1600200"/>
            <a:ext cx="3383280" cy="2697480"/>
          </a:xfrm>
          <a:prstGeom prst="roundRect">
            <a:avLst>
              <a:gd name="adj" fmla="val 5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39231" y="1280160"/>
            <a:ext cx="713232" cy="7132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075E54"/>
                </a:solidFill>
                <a:latin typeface="Calibri"/>
              </a:rPr>
              <a:t>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7087" y="2148840"/>
            <a:ext cx="3017520" cy="2011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CFF3E8"/>
                </a:solidFill>
                <a:latin typeface="Calibri"/>
              </a:rPr>
              <a:t>PHASE 2</a:t>
            </a:r>
          </a:p>
          <a:p>
            <a:pPr algn="ctr">
              <a:spcAft>
                <a:spcPts val="8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DIAGNOSIS</a:t>
            </a:r>
          </a:p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7 frameworks → one ranked causal model · adversarially red-teamed</a:t>
            </a:r>
          </a:p>
        </p:txBody>
      </p:sp>
      <p:sp>
        <p:nvSpPr>
          <p:cNvPr id="15" name="Oval 14"/>
          <p:cNvSpPr/>
          <p:nvPr/>
        </p:nvSpPr>
        <p:spPr>
          <a:xfrm>
            <a:off x="7842351" y="2697480"/>
            <a:ext cx="393192" cy="393192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90407" y="1600200"/>
            <a:ext cx="3383280" cy="2697480"/>
          </a:xfrm>
          <a:prstGeom prst="roundRect">
            <a:avLst>
              <a:gd name="adj" fmla="val 5000"/>
            </a:avLst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25431" y="1280160"/>
            <a:ext cx="713232" cy="7132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075E54"/>
                </a:solidFill>
                <a:latin typeface="Calibri"/>
              </a:rPr>
              <a:t>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3287" y="2148840"/>
            <a:ext cx="3017520" cy="2011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CFF3E8"/>
                </a:solidFill>
                <a:latin typeface="Calibri"/>
              </a:rPr>
              <a:t>PHASE 3</a:t>
            </a:r>
          </a:p>
          <a:p>
            <a:pPr algn="ctr">
              <a:spcAft>
                <a:spcPts val="8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STRATEGY</a:t>
            </a:r>
          </a:p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51 fixes proposed &amp; stress-tested · RICE-ranked · scenario-modeled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8007" y="4800600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E8F7F0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007" y="4800600"/>
            <a:ext cx="128016" cy="1051560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047" y="4800600"/>
            <a:ext cx="10607040" cy="10515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75E54"/>
                </a:solidFill>
                <a:latin typeface="Calibri"/>
              </a:rPr>
              <a:t>My contribution: </a:t>
            </a:r>
            <a:r>
              <a:rPr sz="1400" b="0">
                <a:solidFill>
                  <a:srgbClr val="1A1A1A"/>
                </a:solidFill>
                <a:latin typeface="Calibri"/>
              </a:rPr>
              <a:t>I diagnosed the root cause, then </a:t>
            </a:r>
            <a:r>
              <a:rPr sz="1400" b="1">
                <a:solidFill>
                  <a:srgbClr val="1A1A1A"/>
                </a:solidFill>
                <a:latin typeface="Calibri"/>
              </a:rPr>
              <a:t>proposed and stress-tested every fix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each solution carries a "why it works" </a:t>
            </a:r>
            <a:r>
              <a:rPr sz="1400" b="1">
                <a:solidFill>
                  <a:srgbClr val="1A1A1A"/>
                </a:solidFill>
                <a:latin typeface="Calibri"/>
              </a:rPr>
              <a:t>and</a:t>
            </a:r>
            <a:r>
              <a:rPr sz="1400" b="0">
                <a:solidFill>
                  <a:srgbClr val="1A1A1A"/>
                </a:solidFill>
                <a:latin typeface="Calibri"/>
              </a:rPr>
              <a:t> a "why it fails" case.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869680" cy="74980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The Market That Should Have Been Theirs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274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8D99AE"/>
                </a:solidFill>
                <a:latin typeface="Calibri"/>
              </a:rPr>
              <a:t>WhatsApp Pay India  —  Product Strategy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73952"/>
            <a:ext cx="1856231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r"/>
            <a:r>
              <a:rPr sz="1000" b="1">
                <a:solidFill>
                  <a:srgbClr val="8D99AE"/>
                </a:solidFill>
                <a:latin typeface="Calibri"/>
              </a:rPr>
              <a:t>4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331720"/>
            <a:ext cx="10177272" cy="4572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2203704"/>
            <a:ext cx="301752" cy="301752"/>
          </a:xfrm>
          <a:prstGeom prst="ellipse">
            <a:avLst/>
          </a:prstGeom>
          <a:solidFill>
            <a:srgbClr val="25D3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" y="1371600"/>
            <a:ext cx="2286000" cy="868680"/>
          </a:xfrm>
          <a:prstGeom prst="rect">
            <a:avLst/>
          </a:prstGeom>
          <a:noFill/>
        </p:spPr>
        <p:txBody>
          <a:bodyPr wrap="square" anchor="b" lIns="54864" rIns="54864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75E54"/>
                </a:solidFill>
                <a:latin typeface="Calibri"/>
              </a:rPr>
              <a:t>2016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UPI launches</a:t>
            </a:r>
          </a:p>
        </p:txBody>
      </p:sp>
      <p:sp>
        <p:nvSpPr>
          <p:cNvPr id="11" name="Oval 10"/>
          <p:cNvSpPr/>
          <p:nvPr/>
        </p:nvSpPr>
        <p:spPr>
          <a:xfrm>
            <a:off x="3529584" y="2203704"/>
            <a:ext cx="301752" cy="301752"/>
          </a:xfrm>
          <a:prstGeom prst="ellipse">
            <a:avLst/>
          </a:prstGeom>
          <a:solidFill>
            <a:srgbClr val="25D3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542032"/>
            <a:ext cx="2286000" cy="8686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75E54"/>
                </a:solidFill>
                <a:latin typeface="Calibri"/>
              </a:rPr>
              <a:t>2018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WhatsApp Pay beta</a:t>
            </a:r>
          </a:p>
        </p:txBody>
      </p:sp>
      <p:sp>
        <p:nvSpPr>
          <p:cNvPr id="13" name="Oval 12"/>
          <p:cNvSpPr/>
          <p:nvPr/>
        </p:nvSpPr>
        <p:spPr>
          <a:xfrm>
            <a:off x="5961888" y="2203704"/>
            <a:ext cx="301752" cy="301752"/>
          </a:xfrm>
          <a:prstGeom prst="ellipse">
            <a:avLst/>
          </a:prstGeom>
          <a:solidFill>
            <a:srgbClr val="25D3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4" y="1371600"/>
            <a:ext cx="2286000" cy="868680"/>
          </a:xfrm>
          <a:prstGeom prst="rect">
            <a:avLst/>
          </a:prstGeom>
          <a:noFill/>
        </p:spPr>
        <p:txBody>
          <a:bodyPr wrap="square" anchor="b" lIns="54864" rIns="54864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75E54"/>
                </a:solidFill>
                <a:latin typeface="Calibri"/>
              </a:rPr>
              <a:t>2020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Full rollout + Zero-MDR begins</a:t>
            </a:r>
          </a:p>
        </p:txBody>
      </p:sp>
      <p:sp>
        <p:nvSpPr>
          <p:cNvPr id="15" name="Oval 14"/>
          <p:cNvSpPr/>
          <p:nvPr/>
        </p:nvSpPr>
        <p:spPr>
          <a:xfrm>
            <a:off x="8375904" y="2203704"/>
            <a:ext cx="301752" cy="301752"/>
          </a:xfrm>
          <a:prstGeom prst="ellipse">
            <a:avLst/>
          </a:prstGeom>
          <a:solidFill>
            <a:srgbClr val="25D3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542032"/>
            <a:ext cx="2286000" cy="8686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75E54"/>
                </a:solidFill>
                <a:latin typeface="Calibri"/>
              </a:rPr>
              <a:t>Aug 2022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P2M overtakes P2P</a:t>
            </a:r>
          </a:p>
        </p:txBody>
      </p:sp>
      <p:sp>
        <p:nvSpPr>
          <p:cNvPr id="17" name="Oval 16"/>
          <p:cNvSpPr/>
          <p:nvPr/>
        </p:nvSpPr>
        <p:spPr>
          <a:xfrm>
            <a:off x="10799063" y="2203704"/>
            <a:ext cx="301752" cy="301752"/>
          </a:xfrm>
          <a:prstGeom prst="ellipse">
            <a:avLst/>
          </a:prstGeom>
          <a:solidFill>
            <a:srgbClr val="25D3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371600"/>
            <a:ext cx="2286000" cy="868680"/>
          </a:xfrm>
          <a:prstGeom prst="rect">
            <a:avLst/>
          </a:prstGeom>
          <a:noFill/>
        </p:spPr>
        <p:txBody>
          <a:bodyPr wrap="square" anchor="b" lIns="54864" rIns="54864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75E54"/>
                </a:solidFill>
                <a:latin typeface="Calibri"/>
              </a:rPr>
              <a:t>2024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~$2.7T annual UPI volume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2287" y="3977639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447" y="4114800"/>
            <a:ext cx="329184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4600" b="1">
                <a:solidFill>
                  <a:srgbClr val="075E54"/>
                </a:solidFill>
                <a:latin typeface="Calibri"/>
              </a:rPr>
              <a:t>16B+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167" y="5029200"/>
            <a:ext cx="320040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Calibri"/>
              </a:rPr>
              <a:t>UPI transactions / month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2767" y="3977639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FCEEDD"/>
          </a:solidFill>
          <a:ln w="2540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9927" y="4114800"/>
            <a:ext cx="329184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4600" b="1">
                <a:solidFill>
                  <a:srgbClr val="F4A261"/>
                </a:solidFill>
                <a:latin typeface="Calibri"/>
              </a:rPr>
              <a:t>₹0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5647" y="5029200"/>
            <a:ext cx="320040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Calibri"/>
              </a:rPr>
              <a:t>MDR — what merchants &amp; apps earn per UPI txn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5647" y="5486400"/>
            <a:ext cx="320040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9C5A1E"/>
                </a:solidFill>
                <a:latin typeface="Calibri"/>
              </a:rPr>
              <a:t>Zero-MDR (Jan 2020): the policy that quietly broke the business model.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3247" y="3977639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0407" y="4114800"/>
            <a:ext cx="329184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4600" b="1">
                <a:solidFill>
                  <a:srgbClr val="075E54"/>
                </a:solidFill>
                <a:latin typeface="Calibri"/>
              </a:rPr>
              <a:t>&gt;50%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6127" y="5029200"/>
            <a:ext cx="320040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Calibri"/>
              </a:rPr>
              <a:t>of volume now P2M (merchant) payments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869680" cy="74980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Who Won — And Why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274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8D99AE"/>
                </a:solidFill>
                <a:latin typeface="Calibri"/>
              </a:rPr>
              <a:t>WhatsApp Pay India  —  Product Strategy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73952"/>
            <a:ext cx="1856231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r"/>
            <a:r>
              <a:rPr sz="1000" b="1">
                <a:solidFill>
                  <a:srgbClr val="8D99AE"/>
                </a:solidFill>
                <a:latin typeface="Calibri"/>
              </a:rPr>
              <a:t>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530352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/>
            <a:r>
              <a:rPr sz="1300" b="1">
                <a:solidFill>
                  <a:srgbClr val="075E54"/>
                </a:solidFill>
                <a:latin typeface="Calibri"/>
              </a:rPr>
              <a:t>UPI Market Share (%)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463040"/>
          <a:ext cx="53949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309360" y="1417320"/>
            <a:ext cx="5422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1728216"/>
            <a:ext cx="292608" cy="292608"/>
          </a:xfrm>
          <a:prstGeom prst="ellipse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508760"/>
            <a:ext cx="4663440" cy="7772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PhonePe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8D99AE"/>
                </a:solidFill>
                <a:latin typeface="Calibri"/>
              </a:rPr>
              <a:t>merchant lending + soundbox hardware moat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496312"/>
            <a:ext cx="5422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2807208"/>
            <a:ext cx="292608" cy="292608"/>
          </a:xfrm>
          <a:prstGeom prst="ellipse">
            <a:avLst/>
          </a:prstGeom>
          <a:solidFill>
            <a:srgbClr val="34B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587752"/>
            <a:ext cx="4663440" cy="7772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Google Pay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8D99AE"/>
                </a:solidFill>
                <a:latin typeface="Calibri"/>
              </a:rPr>
              <a:t>Search + Android ecosystem pull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575304"/>
            <a:ext cx="5422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3886200"/>
            <a:ext cx="292608" cy="292608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666744"/>
            <a:ext cx="4663440" cy="7772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Paytm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8D99AE"/>
                </a:solidFill>
                <a:latin typeface="Calibri"/>
              </a:rPr>
              <a:t>offline QR density + merchant network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654296"/>
            <a:ext cx="5422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0" y="4965192"/>
            <a:ext cx="292608" cy="292608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4745736"/>
            <a:ext cx="4663440" cy="7772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WhatsApp Pay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8D99AE"/>
                </a:solidFill>
                <a:latin typeface="Calibri"/>
              </a:rPr>
              <a:t>distribution without a flywheel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869680" cy="74980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Root Cause: A Business-Model Failure, Not a Product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274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8D99AE"/>
                </a:solidFill>
                <a:latin typeface="Calibri"/>
              </a:rPr>
              <a:t>WhatsApp Pay India  —  Product Strategy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73952"/>
            <a:ext cx="1856231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r"/>
            <a:r>
              <a:rPr sz="1000" b="1">
                <a:solidFill>
                  <a:srgbClr val="8D99AE"/>
                </a:solidFill>
                <a:latin typeface="Calibri"/>
              </a:rPr>
              <a:t>6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2286000" cy="960120"/>
          </a:xfrm>
          <a:prstGeom prst="roundRect">
            <a:avLst>
              <a:gd name="adj" fmla="val 6000"/>
            </a:avLst>
          </a:prstGeom>
          <a:solidFill>
            <a:srgbClr val="FCEEDD"/>
          </a:solidFill>
          <a:ln w="2540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91640"/>
            <a:ext cx="2139696" cy="9601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9C5A1E"/>
                </a:solidFill>
                <a:latin typeface="Calibri"/>
              </a:rPr>
              <a:t>RBI / NPCI Zero-MDR
(Jan 2020)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691640"/>
            <a:ext cx="22860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36392" y="1691640"/>
            <a:ext cx="2139696" cy="9601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Calibri"/>
              </a:rPr>
              <a:t>UPI earns ₹0
per transaction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691640"/>
            <a:ext cx="22860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07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1691640"/>
            <a:ext cx="2139696" cy="9601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75E54"/>
                </a:solidFill>
                <a:latin typeface="Calibri"/>
              </a:rPr>
              <a:t>WhatsApp Pay's LTV
to Meta ≈ ₹0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91640"/>
            <a:ext cx="22860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691640"/>
            <a:ext cx="2139696" cy="9601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Calibri"/>
              </a:rPr>
              <a:t>Rational
non-investment by Meta</a:t>
            </a:r>
          </a:p>
        </p:txBody>
      </p:sp>
      <p:sp>
        <p:nvSpPr>
          <p:cNvPr id="16" name="Oval 15"/>
          <p:cNvSpPr/>
          <p:nvPr/>
        </p:nvSpPr>
        <p:spPr>
          <a:xfrm>
            <a:off x="2761488" y="2007107"/>
            <a:ext cx="310896" cy="310896"/>
          </a:xfrm>
          <a:prstGeom prst="ellipse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5367527" y="2007107"/>
            <a:ext cx="310896" cy="310896"/>
          </a:xfrm>
          <a:prstGeom prst="ellipse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7" y="2007107"/>
            <a:ext cx="310896" cy="310896"/>
          </a:xfrm>
          <a:prstGeom prst="ellipse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3657600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3657600"/>
            <a:ext cx="2231136" cy="7772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Calibri"/>
              </a:rPr>
              <a:t>No merchant density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657600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2" y="3657600"/>
            <a:ext cx="2231136" cy="7772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Calibri"/>
              </a:rPr>
              <a:t>No habit-formation loop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6309359" y="2651760"/>
            <a:ext cx="3108961" cy="1005840"/>
          </a:xfrm>
          <a:prstGeom prst="line">
            <a:avLst/>
          </a:prstGeom>
          <a:ln w="27940">
            <a:solidFill>
              <a:srgbClr val="075E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235440" y="2651760"/>
            <a:ext cx="182880" cy="1005840"/>
          </a:xfrm>
          <a:prstGeom prst="line">
            <a:avLst/>
          </a:prstGeom>
          <a:ln w="27940">
            <a:solidFill>
              <a:srgbClr val="075E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83680" y="4800600"/>
            <a:ext cx="2651760" cy="777240"/>
          </a:xfrm>
          <a:prstGeom prst="roundRect">
            <a:avLst>
              <a:gd name="adj" fmla="val 6000"/>
            </a:avLst>
          </a:prstGeom>
          <a:solidFill>
            <a:srgbClr val="FBE3E5"/>
          </a:solidFill>
          <a:ln w="317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4800600"/>
            <a:ext cx="2505456" cy="7772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11E2A"/>
                </a:solidFill>
                <a:latin typeface="Calibri"/>
              </a:rPr>
              <a:t>&lt;1% market share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09359" y="4434840"/>
            <a:ext cx="1234441" cy="365760"/>
          </a:xfrm>
          <a:prstGeom prst="line">
            <a:avLst/>
          </a:prstGeom>
          <a:ln w="27940">
            <a:solidFill>
              <a:srgbClr val="075E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275320" y="4434840"/>
            <a:ext cx="960120" cy="365760"/>
          </a:xfrm>
          <a:prstGeom prst="line">
            <a:avLst/>
          </a:prstGeom>
          <a:ln w="27940">
            <a:solidFill>
              <a:srgbClr val="075E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7200" y="5779008"/>
            <a:ext cx="11274552" cy="457200"/>
          </a:xfrm>
          <a:prstGeom prst="roundRect">
            <a:avLst>
              <a:gd name="adj" fmla="val 6000"/>
            </a:avLst>
          </a:prstGeom>
          <a:solidFill>
            <a:srgbClr val="E8F7F0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779008"/>
            <a:ext cx="11274552" cy="4572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300" b="1" i="1">
                <a:solidFill>
                  <a:srgbClr val="075E54"/>
                </a:solidFill>
                <a:latin typeface="Calibri"/>
              </a:rPr>
              <a:t>One policy removed the revenue.  No revenue removed the reason to invest.  Everything downstream followed.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869680" cy="74980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Seven Drivers, Ranked by Weight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274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8D99AE"/>
                </a:solidFill>
                <a:latin typeface="Calibri"/>
              </a:rPr>
              <a:t>WhatsApp Pay India  —  Product Strategy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73952"/>
            <a:ext cx="1856231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r"/>
            <a:r>
              <a:rPr sz="1000" b="1">
                <a:solidFill>
                  <a:srgbClr val="8D99AE"/>
                </a:solidFill>
                <a:latin typeface="Calibri"/>
              </a:rPr>
              <a:t>7 / 12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" y="1280160"/>
          <a:ext cx="7040880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35240" y="1371600"/>
            <a:ext cx="4114800" cy="4617720"/>
          </a:xfrm>
          <a:prstGeom prst="roundRect">
            <a:avLst>
              <a:gd name="adj" fmla="val 4000"/>
            </a:avLst>
          </a:prstGeom>
          <a:solidFill>
            <a:srgbClr val="0B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554480"/>
            <a:ext cx="36576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1400" b="1">
                <a:solidFill>
                  <a:srgbClr val="25D366"/>
                </a:solidFill>
                <a:latin typeface="Calibri"/>
              </a:rPr>
              <a:t>THE NATURAL EXPERIMENT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965960"/>
            <a:ext cx="3657600" cy="7772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NPCI's 30% market-share cap was removed on Dec 31, 2024.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743200"/>
            <a:ext cx="3657600" cy="9144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/>
            <a:r>
              <a:rPr sz="5000" b="1">
                <a:solidFill>
                  <a:srgbClr val="25D366"/>
                </a:solidFill>
                <a:latin typeface="Calibri"/>
              </a:rPr>
              <a:t>+17%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703320"/>
            <a:ext cx="365760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WhatsApp Pay's entire Q1-2025 growth.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4297680"/>
            <a:ext cx="3657600" cy="22860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4434840"/>
            <a:ext cx="3657600" cy="13716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D366"/>
                </a:solidFill>
                <a:latin typeface="Calibri"/>
              </a:rPr>
              <a:t>Verdict: </a:t>
            </a:r>
            <a:r>
              <a:rPr sz="1250" b="0">
                <a:solidFill>
                  <a:srgbClr val="FFFFFF"/>
                </a:solidFill>
                <a:latin typeface="Calibri"/>
              </a:rPr>
              <a:t>the cap was never the binding constraint — Meta’s will to invest was.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869680" cy="74980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The Strategic Choice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274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8D99AE"/>
                </a:solidFill>
                <a:latin typeface="Calibri"/>
              </a:rPr>
              <a:t>WhatsApp Pay India  —  Product Strategy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73952"/>
            <a:ext cx="1856231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r"/>
            <a:r>
              <a:rPr sz="1000" b="1">
                <a:solidFill>
                  <a:srgbClr val="8D99AE"/>
                </a:solidFill>
                <a:latin typeface="Calibri"/>
              </a:rPr>
              <a:t>8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02536" y="1453896"/>
            <a:ext cx="4704588" cy="2075688"/>
          </a:xfrm>
          <a:prstGeom prst="roundRect">
            <a:avLst>
              <a:gd name="adj" fmla="val 6000"/>
            </a:avLst>
          </a:prstGeom>
          <a:solidFill>
            <a:srgbClr val="EEF0F2"/>
          </a:solidFill>
          <a:ln w="1524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600200"/>
            <a:ext cx="4411979" cy="17830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8D99AE"/>
                </a:solidFill>
                <a:latin typeface="Calibri"/>
              </a:rPr>
              <a:t>Commodity rail</a:t>
            </a:r>
          </a:p>
          <a:p>
            <a:pPr algn="ctr"/>
            <a:r>
              <a:rPr sz="1150" b="0">
                <a:solidFill>
                  <a:srgbClr val="8D99AE"/>
                </a:solidFill>
                <a:latin typeface="Calibri"/>
              </a:rPr>
              <a:t>present everywhere, earns nothing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0276" y="1453896"/>
            <a:ext cx="4704588" cy="2075688"/>
          </a:xfrm>
          <a:prstGeom prst="roundRect">
            <a:avLst>
              <a:gd name="adj" fmla="val 6000"/>
            </a:avLst>
          </a:prstGeom>
          <a:solidFill>
            <a:srgbClr val="E8F7F0"/>
          </a:solidFill>
          <a:ln w="3175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26580" y="1600200"/>
            <a:ext cx="4411979" cy="17830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75E54"/>
                </a:solidFill>
                <a:latin typeface="Calibri"/>
              </a:rPr>
              <a:t>COMMERCE OS</a:t>
            </a:r>
          </a:p>
          <a:p>
            <a:pPr algn="ctr"/>
            <a:r>
              <a:rPr sz="1150" b="0">
                <a:solidFill>
                  <a:srgbClr val="075E54"/>
                </a:solidFill>
                <a:latin typeface="Calibri"/>
              </a:rPr>
              <a:t>the target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02536" y="3602736"/>
            <a:ext cx="4704588" cy="2075688"/>
          </a:xfrm>
          <a:prstGeom prst="roundRect">
            <a:avLst>
              <a:gd name="adj" fmla="val 6000"/>
            </a:avLst>
          </a:prstGeom>
          <a:solidFill>
            <a:srgbClr val="FBE3E5"/>
          </a:solidFill>
          <a:ln w="317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3749040"/>
            <a:ext cx="4411979" cy="17830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B11E2A"/>
                </a:solidFill>
                <a:latin typeface="Calibri"/>
              </a:rPr>
              <a:t>WhatsApp Pay Today</a:t>
            </a:r>
          </a:p>
          <a:p>
            <a:pPr algn="ctr"/>
            <a:r>
              <a:rPr sz="1150" b="0">
                <a:solidFill>
                  <a:srgbClr val="B11E2A"/>
                </a:solidFill>
                <a:latin typeface="Calibri"/>
              </a:rPr>
              <a:t>&lt;1% share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0276" y="3602736"/>
            <a:ext cx="4704588" cy="2075688"/>
          </a:xfrm>
          <a:prstGeom prst="roundRect">
            <a:avLst>
              <a:gd name="adj" fmla="val 6000"/>
            </a:avLst>
          </a:prstGeom>
          <a:solidFill>
            <a:srgbClr val="EEF0F2"/>
          </a:solidFill>
          <a:ln w="1524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26580" y="3749040"/>
            <a:ext cx="4411979" cy="17830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8D99AE"/>
                </a:solidFill>
                <a:latin typeface="Calibri"/>
              </a:rPr>
              <a:t>Revenue, no distribution</a:t>
            </a:r>
          </a:p>
          <a:p>
            <a:pPr algn="ctr"/>
            <a:r>
              <a:rPr sz="1150" b="0">
                <a:solidFill>
                  <a:srgbClr val="8D99AE"/>
                </a:solidFill>
                <a:latin typeface="Calibri"/>
              </a:rPr>
              <a:t>a wall with no door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0" y="5166360"/>
            <a:ext cx="201168" cy="201168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788920" y="2599182"/>
            <a:ext cx="6582537" cy="2658618"/>
          </a:xfrm>
          <a:prstGeom prst="line">
            <a:avLst/>
          </a:prstGeom>
          <a:ln w="50800">
            <a:solidFill>
              <a:srgbClr val="25D3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928158" y="3364992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The path: CTWA closed-loop checkout + merchant lending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1417320"/>
            <a:ext cx="1417320" cy="4297680"/>
          </a:xfrm>
          <a:prstGeom prst="roundRect">
            <a:avLst>
              <a:gd name="adj" fmla="val 6000"/>
            </a:avLst>
          </a:prstGeom>
          <a:solidFill>
            <a:srgbClr val="EAECE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1417320"/>
            <a:ext cx="1325880" cy="4297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075E54"/>
                </a:solidFill>
                <a:latin typeface="Calibri"/>
              </a:rPr>
              <a:t>MONETIZATION</a:t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050" b="1">
                <a:solidFill>
                  <a:srgbClr val="1A1A1A"/>
                </a:solidFill>
                <a:latin typeface="Calibri"/>
              </a:rPr>
              <a:t>↑ MDR-bearing / LTV-positive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D99AE"/>
                </a:solidFill>
                <a:latin typeface="Calibri"/>
              </a:rPr>
              <a:t>Zero-MDR 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65960" y="5824728"/>
            <a:ext cx="9555480" cy="384048"/>
          </a:xfrm>
          <a:prstGeom prst="roundRect">
            <a:avLst>
              <a:gd name="adj" fmla="val 6000"/>
            </a:avLst>
          </a:prstGeom>
          <a:solidFill>
            <a:srgbClr val="EAECE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5824728"/>
            <a:ext cx="9555480" cy="38404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Meta’s strategic commitment    Low  →  High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869680" cy="74980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The Fix: Five Sequenced Bets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274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8D99AE"/>
                </a:solidFill>
                <a:latin typeface="Calibri"/>
              </a:rPr>
              <a:t>WhatsApp Pay India  —  Product Strategy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73952"/>
            <a:ext cx="1856231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r"/>
            <a:r>
              <a:rPr sz="1000" b="1">
                <a:solidFill>
                  <a:srgbClr val="8D99AE"/>
                </a:solidFill>
                <a:latin typeface="Calibri"/>
              </a:rPr>
              <a:t>9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371600"/>
            <a:ext cx="10058400" cy="822960"/>
          </a:xfrm>
          <a:prstGeom prst="roundRect">
            <a:avLst>
              <a:gd name="adj" fmla="val 6000"/>
            </a:avLst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1" y="15087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75E54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599" y="1371600"/>
            <a:ext cx="8961120" cy="8229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CTWA Closed-Loop Checkout  </a:t>
            </a:r>
            <a:r>
              <a:rPr sz="1150" b="0">
                <a:solidFill>
                  <a:srgbClr val="EAFBF3"/>
                </a:solidFill>
                <a:latin typeface="Calibri"/>
              </a:rPr>
              <a:t>—  Ads → chat → pay; turns a ₹0 transaction into an ad-attributed sale.  FOUNDATION.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286000"/>
            <a:ext cx="9326880" cy="822960"/>
          </a:xfrm>
          <a:prstGeom prst="roundRect">
            <a:avLst>
              <a:gd name="adj" fmla="val 6000"/>
            </a:avLst>
          </a:prstGeom>
          <a:solidFill>
            <a:srgbClr val="0F7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4231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F7266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286000"/>
            <a:ext cx="8229600" cy="8229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Merchant-Lending Engine  </a:t>
            </a:r>
            <a:r>
              <a:rPr sz="1150" b="0">
                <a:solidFill>
                  <a:srgbClr val="EAFBF3"/>
                </a:solidFill>
                <a:latin typeface="Calibri"/>
              </a:rPr>
              <a:t>—  ~7.5% take on loans to the 15M WhatsApp Business base; a merchant army with LTV attached.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39" y="3200400"/>
            <a:ext cx="8595360" cy="822960"/>
          </a:xfrm>
          <a:prstGeom prst="roundRect">
            <a:avLst>
              <a:gd name="adj" fmla="val 6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1" y="33375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28C7E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200400"/>
            <a:ext cx="7498080" cy="8229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Chat-Native Red Packet  </a:t>
            </a:r>
            <a:r>
              <a:rPr sz="1150" b="0">
                <a:solidFill>
                  <a:srgbClr val="EAFBF3"/>
                </a:solidFill>
                <a:latin typeface="Calibri"/>
              </a:rPr>
              <a:t>—  WeChat hongbao analogue for viral P2P ignition.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00200" y="4114800"/>
            <a:ext cx="7863840" cy="822960"/>
          </a:xfrm>
          <a:prstGeom prst="roundRect">
            <a:avLst>
              <a:gd name="adj" fmla="val 6000"/>
            </a:avLst>
          </a:prstGeom>
          <a:solidFill>
            <a:srgbClr val="1AA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64792" y="42519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AA890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114800"/>
            <a:ext cx="6766559" cy="8229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Anchor Merchants  </a:t>
            </a:r>
            <a:r>
              <a:rPr sz="1150" b="0">
                <a:solidFill>
                  <a:srgbClr val="EAFBF3"/>
                </a:solidFill>
                <a:latin typeface="Calibri"/>
              </a:rPr>
              <a:t>—  3–5 deals; one grocery anchor ≈ 40–160M txns / mo.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5029200"/>
            <a:ext cx="7132320" cy="822960"/>
          </a:xfrm>
          <a:prstGeom prst="roundRect">
            <a:avLst>
              <a:gd name="adj" fmla="val 6000"/>
            </a:avLst>
          </a:prstGeom>
          <a:solidFill>
            <a:srgbClr val="25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130552" y="51663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5C49A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39" y="5029200"/>
            <a:ext cx="6035040" cy="8229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2027 Regulatory Window  </a:t>
            </a:r>
            <a:r>
              <a:rPr sz="1150" b="0">
                <a:solidFill>
                  <a:srgbClr val="EAFBF3"/>
                </a:solidFill>
                <a:latin typeface="Calibri"/>
              </a:rPr>
              <a:t>—  Cheap, high-optionality, decays fast.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029200"/>
            <a:ext cx="1481328" cy="960120"/>
          </a:xfrm>
          <a:prstGeom prst="roundRect">
            <a:avLst>
              <a:gd name="adj" fmla="val 1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⚠ Bet 3 needs Bet 2 first — else it spikes, then dies.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914400" y="2697480"/>
            <a:ext cx="182880" cy="2295144"/>
          </a:xfrm>
          <a:prstGeom prst="line">
            <a:avLst/>
          </a:prstGeom>
          <a:ln w="35560">
            <a:solidFill>
              <a:srgbClr val="E6394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927080" y="1554480"/>
            <a:ext cx="1207008" cy="384048"/>
          </a:xfrm>
          <a:prstGeom prst="roundRect">
            <a:avLst>
              <a:gd name="adj" fmla="val 30000"/>
            </a:avLst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27080" y="3291840"/>
            <a:ext cx="1207008" cy="384048"/>
          </a:xfrm>
          <a:prstGeom prst="roundRect">
            <a:avLst>
              <a:gd name="adj" fmla="val 30000"/>
            </a:avLst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27080" y="4937760"/>
            <a:ext cx="1207008" cy="384048"/>
          </a:xfrm>
          <a:prstGeom prst="roundRect">
            <a:avLst>
              <a:gd name="adj" fmla="val 30000"/>
            </a:avLst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OPTIONALITY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869680" cy="74980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How ₹0 Becomes a Business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274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8D99AE"/>
                </a:solidFill>
                <a:latin typeface="Calibri"/>
              </a:rPr>
              <a:t>WhatsApp Pay India  —  Product Strategy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73952"/>
            <a:ext cx="1856231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r"/>
            <a:r>
              <a:rPr sz="1000" b="1">
                <a:solidFill>
                  <a:srgbClr val="8D99AE"/>
                </a:solidFill>
                <a:latin typeface="Calibri"/>
              </a:rPr>
              <a:t>10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3291840" cy="365760"/>
          </a:xfrm>
          <a:prstGeom prst="roundRect">
            <a:avLst>
              <a:gd name="adj" fmla="val 3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LTV per active user / year (₹)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645920" y="1325880"/>
          <a:ext cx="886968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920240" y="4754880"/>
            <a:ext cx="27432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4754880"/>
            <a:ext cx="2560320" cy="7772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UPI P2P / P2M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D99AE"/>
                </a:solidFill>
                <a:latin typeface="Calibri"/>
              </a:rPr>
              <a:t>no revenue to Meta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4754880"/>
            <a:ext cx="27432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4754880"/>
            <a:ext cx="2560320" cy="7772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CTWA closed-loop checkout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D99AE"/>
                </a:solidFill>
                <a:latin typeface="Calibri"/>
              </a:rPr>
              <a:t>ad-attributed sales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754880"/>
            <a:ext cx="27432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4754880"/>
            <a:ext cx="2560320" cy="7772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A1A1A"/>
                </a:solidFill>
                <a:latin typeface="Calibri"/>
              </a:rPr>
              <a:t>Merchant lending + insurance + credit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D99AE"/>
                </a:solidFill>
                <a:latin typeface="Calibri"/>
              </a:rPr>
              <a:t>compounding LTV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715000"/>
            <a:ext cx="11274552" cy="502920"/>
          </a:xfrm>
          <a:prstGeom prst="roundRect">
            <a:avLst>
              <a:gd name="adj" fmla="val 6000"/>
            </a:avLst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715000"/>
            <a:ext cx="11274552" cy="5029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The LTV curve that makes Meta’s investment rational — and that no competitor can build inside an ad platform.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869680" cy="74980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51 Fixes, Prioritized and Stress-Tested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274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8D99AE"/>
                </a:solidFill>
                <a:latin typeface="Calibri"/>
              </a:rPr>
              <a:t>WhatsApp Pay India  —  Product Strategy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73952"/>
            <a:ext cx="1856231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r"/>
            <a:r>
              <a:rPr sz="1000" b="1">
                <a:solidFill>
                  <a:srgbClr val="8D99AE"/>
                </a:solidFill>
                <a:latin typeface="Calibri"/>
              </a:rPr>
              <a:t>11 / 12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" y="123444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Oval 8"/>
          <p:cNvSpPr/>
          <p:nvPr/>
        </p:nvSpPr>
        <p:spPr>
          <a:xfrm>
            <a:off x="548640" y="5943600"/>
            <a:ext cx="182880" cy="182880"/>
          </a:xfrm>
          <a:prstGeom prst="ellipse">
            <a:avLst/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5870448"/>
            <a:ext cx="1691640" cy="3200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Calibri"/>
              </a:rPr>
              <a:t>Monetization</a:t>
            </a:r>
          </a:p>
        </p:txBody>
      </p:sp>
      <p:sp>
        <p:nvSpPr>
          <p:cNvPr id="11" name="Oval 10"/>
          <p:cNvSpPr/>
          <p:nvPr/>
        </p:nvSpPr>
        <p:spPr>
          <a:xfrm>
            <a:off x="2331720" y="5943600"/>
            <a:ext cx="182880" cy="182880"/>
          </a:xfrm>
          <a:prstGeom prst="ellipse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9463" y="5870448"/>
            <a:ext cx="1691640" cy="3200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Calibri"/>
              </a:rPr>
              <a:t>Merchant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0" y="5943600"/>
            <a:ext cx="182880" cy="182880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5870448"/>
            <a:ext cx="1691640" cy="3200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Calibri"/>
              </a:rPr>
              <a:t>Viral</a:t>
            </a:r>
          </a:p>
        </p:txBody>
      </p:sp>
      <p:sp>
        <p:nvSpPr>
          <p:cNvPr id="15" name="Oval 14"/>
          <p:cNvSpPr/>
          <p:nvPr/>
        </p:nvSpPr>
        <p:spPr>
          <a:xfrm>
            <a:off x="5897880" y="5943600"/>
            <a:ext cx="182880" cy="182880"/>
          </a:xfrm>
          <a:prstGeom prst="ellipse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5624" y="5870448"/>
            <a:ext cx="1691640" cy="3200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Calibri"/>
              </a:rPr>
              <a:t>Market/Other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325880"/>
            <a:ext cx="3931920" cy="502920"/>
          </a:xfrm>
          <a:prstGeom prst="roundRect">
            <a:avLst>
              <a:gd name="adj" fmla="val 6000"/>
            </a:avLst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325880"/>
            <a:ext cx="3931920" cy="5029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MY STRESS-TEST METHOD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9659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E8F7F0"/>
          </a:solidFill>
          <a:ln w="1905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01000" y="2103120"/>
            <a:ext cx="365760" cy="365760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057400"/>
            <a:ext cx="3246120" cy="12344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75E54"/>
                </a:solidFill>
                <a:latin typeface="Calibri"/>
              </a:rPr>
              <a:t>WHY IT WORKS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Proof metric  ·  projected impact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>
                <a:solidFill>
                  <a:srgbClr val="8D99AE"/>
                </a:solidFill>
                <a:latin typeface="Calibri"/>
              </a:rPr>
              <a:t>the evidence the fix moves the North-Star number.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47472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BE3E5"/>
          </a:solidFill>
          <a:ln w="190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01000" y="3611880"/>
            <a:ext cx="365760" cy="3657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566160"/>
            <a:ext cx="3246120" cy="12344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B11E2A"/>
                </a:solidFill>
                <a:latin typeface="Calibri"/>
              </a:rPr>
              <a:t>WHY IT MIGHT NOT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Kill-risk  ·  new risk created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>
                <a:solidFill>
                  <a:srgbClr val="8D99AE"/>
                </a:solidFill>
                <a:latin typeface="Calibri"/>
              </a:rPr>
              <a:t>the honest case for how each fix fails.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4983480"/>
            <a:ext cx="3931920" cy="777240"/>
          </a:xfrm>
          <a:prstGeom prst="roundRect">
            <a:avLst>
              <a:gd name="adj" fmla="val 12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Every solution scored on  Reach × Impact × Confidence ÷ Effort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3952"/>
            <a:ext cx="7315200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8D99AE"/>
                </a:solidFill>
                <a:latin typeface="Calibri"/>
              </a:rPr>
              <a:t>WhatsApp Pay India  —  Product Strategy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73952"/>
            <a:ext cx="1856231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r"/>
            <a:r>
              <a:rPr sz="1000" b="1">
                <a:solidFill>
                  <a:srgbClr val="8D99AE"/>
                </a:solidFill>
                <a:latin typeface="Calibri"/>
              </a:rPr>
              <a:t>12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56048" y="320040"/>
            <a:ext cx="2286000" cy="365760"/>
          </a:xfrm>
          <a:prstGeom prst="roundRect">
            <a:avLst>
              <a:gd name="adj" fmla="val 40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THREE FUTURES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464" y="960120"/>
            <a:ext cx="3474720" cy="2697480"/>
          </a:xfrm>
          <a:prstGeom prst="roundRect">
            <a:avLst>
              <a:gd name="adj" fmla="val 6000"/>
            </a:avLst>
          </a:prstGeom>
          <a:solidFill>
            <a:srgbClr val="10212B"/>
          </a:solidFill>
          <a:ln w="3175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80920" y="777240"/>
            <a:ext cx="749808" cy="749808"/>
          </a:xfrm>
          <a:prstGeom prst="ellipse">
            <a:avLst/>
          </a:prstGeom>
          <a:solidFill>
            <a:srgbClr val="25D366"/>
          </a:solidFill>
          <a:ln w="19050">
            <a:solidFill>
              <a:srgbClr val="0B1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22%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344" y="1581912"/>
            <a:ext cx="3108960" cy="1463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25D366"/>
                </a:solidFill>
                <a:latin typeface="Calibri"/>
              </a:rPr>
              <a:t>BULL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Meta commits $500M+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12–15% UPI share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₹2,500–4,000cr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4224" y="2788920"/>
            <a:ext cx="2743200" cy="18288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1344" y="2880360"/>
            <a:ext cx="3108960" cy="685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5D366"/>
                </a:solidFill>
                <a:latin typeface="Calibri"/>
              </a:rPr>
              <a:t>Condition: </a:t>
            </a:r>
            <a:r>
              <a:rPr sz="1050" b="0">
                <a:solidFill>
                  <a:srgbClr val="C9D1D6"/>
                </a:solidFill>
                <a:latin typeface="Calibri"/>
              </a:rPr>
              <a:t>India treated as a commerce 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944" y="868680"/>
            <a:ext cx="3474720" cy="2880360"/>
          </a:xfrm>
          <a:prstGeom prst="roundRect">
            <a:avLst>
              <a:gd name="adj" fmla="val 6000"/>
            </a:avLst>
          </a:prstGeom>
          <a:solidFill>
            <a:srgbClr val="10212B"/>
          </a:solidFill>
          <a:ln w="3175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21400" y="685800"/>
            <a:ext cx="749808" cy="749808"/>
          </a:xfrm>
          <a:prstGeom prst="ellipse">
            <a:avLst/>
          </a:prstGeom>
          <a:solidFill>
            <a:srgbClr val="F4A261"/>
          </a:solidFill>
          <a:ln w="19050">
            <a:solidFill>
              <a:srgbClr val="0B1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824" y="1490472"/>
            <a:ext cx="3108960" cy="1645919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4A261"/>
                </a:solidFill>
                <a:latin typeface="Calibri"/>
              </a:rPr>
              <a:t>BASE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CTWA works, lending launches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daily P2P never fully converts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4–6% UPI share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24704" y="2880359"/>
            <a:ext cx="2743200" cy="18288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1824" y="2971799"/>
            <a:ext cx="3108960" cy="685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4A261"/>
                </a:solidFill>
                <a:latin typeface="Calibri"/>
              </a:rPr>
              <a:t>Condition: </a:t>
            </a:r>
            <a:r>
              <a:rPr sz="1050" b="0">
                <a:solidFill>
                  <a:srgbClr val="C9D1D6"/>
                </a:solidFill>
                <a:latin typeface="Calibri"/>
              </a:rPr>
              <a:t>Half-commitment — money flows, not enough.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9424" y="960120"/>
            <a:ext cx="3474720" cy="2697480"/>
          </a:xfrm>
          <a:prstGeom prst="roundRect">
            <a:avLst>
              <a:gd name="adj" fmla="val 6000"/>
            </a:avLst>
          </a:prstGeom>
          <a:solidFill>
            <a:srgbClr val="10212B"/>
          </a:solidFill>
          <a:ln w="317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61880" y="777240"/>
            <a:ext cx="749808" cy="749808"/>
          </a:xfrm>
          <a:prstGeom prst="ellipse">
            <a:avLst/>
          </a:prstGeom>
          <a:solidFill>
            <a:srgbClr val="E63946"/>
          </a:solidFill>
          <a:ln w="19050">
            <a:solidFill>
              <a:srgbClr val="0B1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28%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304" y="1581912"/>
            <a:ext cx="3108960" cy="1463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E63946"/>
                </a:solidFill>
                <a:latin typeface="Calibri"/>
              </a:rPr>
              <a:t>BEAR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Meta stays passive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&lt;1.5% share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a second era of under-investment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65184" y="2788920"/>
            <a:ext cx="2743200" cy="18288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304" y="2880360"/>
            <a:ext cx="3108960" cy="685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E63946"/>
                </a:solidFill>
                <a:latin typeface="Calibri"/>
              </a:rPr>
              <a:t>Condition: </a:t>
            </a:r>
            <a:r>
              <a:rPr sz="1050" b="0">
                <a:solidFill>
                  <a:srgbClr val="C9D1D6"/>
                </a:solidFill>
                <a:latin typeface="Calibri"/>
              </a:rPr>
              <a:t>A replay of Dec 2024.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67328"/>
            <a:ext cx="10360152" cy="22860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The real question for Meta isn’t</a:t>
            </a:r>
          </a:p>
          <a:p>
            <a:pPr algn="ctr">
              <a:spcAft>
                <a:spcPts val="500"/>
              </a:spcAft>
            </a:pPr>
            <a:r>
              <a:rPr sz="2800" b="1">
                <a:solidFill>
                  <a:srgbClr val="25D366"/>
                </a:solidFill>
                <a:latin typeface="Calibri"/>
              </a:rPr>
              <a:t>“How do we grow UPI share?”</a:t>
            </a:r>
          </a:p>
          <a:p>
            <a:pPr algn="ctr">
              <a:spcAft>
                <a:spcPts val="3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It’s</a:t>
            </a:r>
          </a:p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2400" b="1">
                <a:solidFill>
                  <a:srgbClr val="25D366"/>
                </a:solidFill>
                <a:latin typeface="Calibri"/>
              </a:rPr>
              <a:t>“Do we build a commerce OS on the world’s most-used messaging app — or not?”</a:t>
            </a:r>
          </a:p>
          <a:p>
            <a:pPr algn="ctr"/>
            <a:r>
              <a:rPr sz="1400" b="0" i="1">
                <a:solidFill>
                  <a:srgbClr val="8D99AE"/>
                </a:solidFill>
                <a:latin typeface="Calibri"/>
              </a:rPr>
              <a:t>Every other variable is downstream of that one decision.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11274552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/>
            <a:r>
              <a:rPr sz="900" b="0">
                <a:solidFill>
                  <a:srgbClr val="8D99AE"/>
                </a:solidFill>
                <a:latin typeface="Calibri"/>
              </a:rPr>
              <a:t>Sources: NPCI  ·  RBI payment-system reports  ·  PhonePe FY25 filings  ·  Meta earnings calls  ·  industry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
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60152" cy="1828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CTWA Closed-Loop Checkout</a:t>
            </a:r>
          </a:p>
          <a:p>
            <a:pPr algn="ctr"/>
            <a:r>
              <a:rPr sz="2000" b="1">
                <a:solidFill>
                  <a:srgbClr val="25D366"/>
                </a:solidFill>
                <a:latin typeface="Calibri"/>
              </a:rPr>
              <a:t>UX Wireframes &amp; End-to-End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383280"/>
            <a:ext cx="9445752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300" b="0">
                <a:solidFill>
                  <a:srgbClr val="C9D1D6"/>
                </a:solidFill>
                <a:latin typeface="Calibri"/>
              </a:rPr>
              <a:t>How a Click-to-WhatsApp ad becomes a WhatsApp Pay transaction — without ever leaving the chat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0947" y="429768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① 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6947" y="4297680"/>
            <a:ext cx="22860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25D366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95547" y="429768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②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1547" y="4297680"/>
            <a:ext cx="22860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25D366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429768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③ PAY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6147" y="4297680"/>
            <a:ext cx="22860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25D366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24747" y="429768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④ ATTRIBUTION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360152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100" b="0">
                <a:solidFill>
                  <a:srgbClr val="8D99AE"/>
                </a:solidFill>
                <a:latin typeface="Calibri"/>
              </a:rPr>
              <a:t>Companion to the WhatsApp Pay × CTWA PRD  ·  Big Bet #1 / Tier-1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8D99AE"/>
                </a:solidFill>
                <a:latin typeface="Calibri"/>
              </a:rPr>
              <a:t>[Your Name] · PM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Closed Loop — Why the Payment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× CTWA — Closed-Loop Checkout · UX Wireframes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2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18688"/>
            <a:ext cx="283464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① AD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AFBF3"/>
                </a:solidFill>
                <a:latin typeface="Calibri"/>
              </a:rPr>
              <a:t>Click-to-WhatsApp ad
on Instagram / Facebook</a:t>
            </a:r>
          </a:p>
        </p:txBody>
      </p:sp>
      <p:sp>
        <p:nvSpPr>
          <p:cNvPr id="10" name="Oval 9"/>
          <p:cNvSpPr/>
          <p:nvPr/>
        </p:nvSpPr>
        <p:spPr>
          <a:xfrm>
            <a:off x="4023359" y="3520440"/>
            <a:ext cx="310896" cy="31089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10896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218688"/>
            <a:ext cx="283464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② CHAT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AFBF3"/>
                </a:solidFill>
                <a:latin typeface="Calibri"/>
              </a:rPr>
              <a:t>In-chat catalog + cart
(no app switch)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3520440"/>
            <a:ext cx="310896" cy="31089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10896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1AA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3218688"/>
            <a:ext cx="283464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③ PAY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AFBF3"/>
                </a:solidFill>
                <a:latin typeface="Calibri"/>
              </a:rPr>
              <a:t>WhatsApp Pay checkout
(default) → UPI PIN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508760"/>
            <a:ext cx="7955280" cy="868680"/>
          </a:xfrm>
          <a:prstGeom prst="roundRect">
            <a:avLst>
              <a:gd name="adj" fmla="val 6000"/>
            </a:avLst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1572768"/>
            <a:ext cx="777240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300" b="1">
                <a:solidFill>
                  <a:srgbClr val="25D366"/>
                </a:solidFill>
                <a:latin typeface="Calibri"/>
              </a:rPr>
              <a:t>④ ATTRIBUTION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Each completed checkout fires a first-party purchase event → Ads optimization + advertiser ROAS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601200" y="2377440"/>
            <a:ext cx="0" cy="731520"/>
          </a:xfrm>
          <a:prstGeom prst="line">
            <a:avLst/>
          </a:prstGeom>
          <a:ln w="31750">
            <a:solidFill>
              <a:srgbClr val="25D3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77440" y="2377440"/>
            <a:ext cx="0" cy="731520"/>
          </a:xfrm>
          <a:prstGeom prst="line">
            <a:avLst/>
          </a:prstGeom>
          <a:ln w="31750">
            <a:solidFill>
              <a:srgbClr val="25D3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46920" y="2514600"/>
            <a:ext cx="16459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75E54"/>
                </a:solidFill>
                <a:latin typeface="Calibri"/>
              </a:rPr>
              <a:t>payment = the
conversion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514600"/>
            <a:ext cx="16459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075E54"/>
                </a:solidFill>
                <a:latin typeface="Calibri"/>
              </a:rPr>
              <a:t>better signal →
more valuable 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0908792" cy="1097280"/>
          </a:xfrm>
          <a:prstGeom prst="roundRect">
            <a:avLst>
              <a:gd name="adj" fmla="val 12000"/>
            </a:avLst>
          </a:prstGeom>
          <a:solidFill>
            <a:srgbClr val="E8F7F0"/>
          </a:solidFill>
          <a:ln w="190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10360152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75E54"/>
                </a:solidFill>
                <a:latin typeface="Calibri"/>
              </a:rPr>
              <a:t>The point of the loop:  </a:t>
            </a:r>
            <a:r>
              <a:rPr sz="1250" b="0">
                <a:solidFill>
                  <a:srgbClr val="111B21"/>
                </a:solidFill>
                <a:latin typeface="Calibri"/>
              </a:rPr>
              <a:t>under zero-MDR the payment earns ₹0 directly. Closing it inside WhatsApp turns each checkout into a measured ad-conversion — so the transaction finally has </a:t>
            </a:r>
            <a:r>
              <a:rPr sz="1250" b="1">
                <a:solidFill>
                  <a:srgbClr val="111B21"/>
                </a:solidFill>
                <a:latin typeface="Calibri"/>
              </a:rPr>
              <a:t>positive LTV to Meta.</a:t>
            </a:r>
          </a:p>
          <a:p>
            <a:pPr algn="l">
              <a:spcBef>
                <a:spcPts val="400"/>
              </a:spcBef>
            </a:pPr>
            <a:r>
              <a:rPr sz="1050" b="0" i="1">
                <a:solidFill>
                  <a:srgbClr val="667781"/>
                </a:solidFill>
                <a:latin typeface="Calibri"/>
              </a:rPr>
              <a:t>Template: WeChat monetizes a zero-MDR-style rail on ~0.6% commerce take over &gt;RMB 2T GMV — not on the transaction.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Flow ①–③ : Ad → Chat → Cart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× CTWA — Closed-Loop Checkout · UX Wireframes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3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95628" y="1188720"/>
            <a:ext cx="1783080" cy="3429000"/>
          </a:xfrm>
          <a:prstGeom prst="roundRect">
            <a:avLst>
              <a:gd name="adj" fmla="val 9000"/>
            </a:avLst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20" y="1252728"/>
            <a:ext cx="1682495" cy="3300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0" y="1252728"/>
            <a:ext cx="1682495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0784" y="1252728"/>
            <a:ext cx="45720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600" b="1">
                <a:solidFill>
                  <a:srgbClr val="111B21"/>
                </a:solidFill>
                <a:latin typeface="Calibri"/>
              </a:rPr>
              <a:t>9:41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252728"/>
            <a:ext cx="1627631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750" b="1">
                <a:solidFill>
                  <a:srgbClr val="111B21"/>
                </a:solidFill>
                <a:latin typeface="Calibri"/>
              </a:rPr>
              <a:t>◉ Instagram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490472"/>
            <a:ext cx="168249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09928" y="1563624"/>
            <a:ext cx="219456" cy="219456"/>
          </a:xfrm>
          <a:prstGeom prst="ellipse">
            <a:avLst/>
          </a:prstGeom>
          <a:solidFill>
            <a:srgbClr val="CF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75104" y="1545336"/>
            <a:ext cx="1316736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90000"/>
              </a:lnSpc>
            </a:pPr>
            <a:r>
              <a:rPr sz="750" b="1">
                <a:solidFill>
                  <a:srgbClr val="111B21"/>
                </a:solidFill>
                <a:latin typeface="Calibri"/>
              </a:rPr>
              <a:t>bharat_kirana</a:t>
            </a:r>
          </a:p>
          <a:p>
            <a:pPr algn="l">
              <a:lnSpc>
                <a:spcPct val="90000"/>
              </a:lnSpc>
            </a:pPr>
            <a:r>
              <a:rPr sz="600" b="0">
                <a:solidFill>
                  <a:srgbClr val="667781"/>
                </a:solidFill>
                <a:latin typeface="Calibri"/>
              </a:rPr>
              <a:t>Sponsored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1856232"/>
            <a:ext cx="1591055" cy="141732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1856232"/>
            <a:ext cx="1591055" cy="1417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90000"/>
              </a:lnSpc>
            </a:pPr>
            <a:r>
              <a:rPr sz="1600" b="0">
                <a:solidFill>
                  <a:srgbClr val="B7BEC7"/>
                </a:solidFill>
                <a:latin typeface="Calibri"/>
              </a:rPr>
              <a:t>▦</a:t>
            </a:r>
          </a:p>
          <a:p>
            <a:pPr algn="ctr"/>
            <a:r>
              <a:rPr sz="650" b="0">
                <a:solidFill>
                  <a:srgbClr val="9AA3AD"/>
                </a:solidFill>
                <a:latin typeface="Calibri"/>
              </a:rPr>
              <a:t>product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3300984"/>
            <a:ext cx="1554479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11B21"/>
                </a:solidFill>
                <a:latin typeface="Calibri"/>
              </a:rPr>
              <a:t>♡    ◯    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538728"/>
            <a:ext cx="1591055" cy="310896"/>
          </a:xfrm>
          <a:prstGeom prst="roundRect">
            <a:avLst>
              <a:gd name="adj" fmla="val 50000"/>
            </a:avLst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🟢  Shop on WhatsApp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3922776"/>
            <a:ext cx="1554479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95000"/>
              </a:lnSpc>
            </a:pPr>
            <a:r>
              <a:rPr sz="680" b="1">
                <a:solidFill>
                  <a:srgbClr val="111B21"/>
                </a:solidFill>
                <a:latin typeface="Calibri"/>
              </a:rPr>
              <a:t>Aashirvaad Atta 10kg — ₹545.</a:t>
            </a:r>
          </a:p>
          <a:p>
            <a:pPr algn="l">
              <a:lnSpc>
                <a:spcPct val="95000"/>
              </a:lnSpc>
            </a:pPr>
            <a:r>
              <a:rPr sz="650" b="0">
                <a:solidFill>
                  <a:srgbClr val="667781"/>
                </a:solidFill>
                <a:latin typeface="Calibri"/>
              </a:rPr>
              <a:t>Tap to order on WhatsApp 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98364" y="1188720"/>
            <a:ext cx="1783080" cy="3429000"/>
          </a:xfrm>
          <a:prstGeom prst="roundRect">
            <a:avLst>
              <a:gd name="adj" fmla="val 9000"/>
            </a:avLst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48656" y="1252728"/>
            <a:ext cx="1682495" cy="3300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48656" y="1252728"/>
            <a:ext cx="1682495" cy="310896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6944" y="1252728"/>
            <a:ext cx="14630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‹</a:t>
            </a:r>
          </a:p>
        </p:txBody>
      </p:sp>
      <p:sp>
        <p:nvSpPr>
          <p:cNvPr id="25" name="Oval 24"/>
          <p:cNvSpPr/>
          <p:nvPr/>
        </p:nvSpPr>
        <p:spPr>
          <a:xfrm>
            <a:off x="5431536" y="1298448"/>
            <a:ext cx="219456" cy="219456"/>
          </a:xfrm>
          <a:prstGeom prst="ellipse">
            <a:avLst/>
          </a:prstGeom>
          <a:solidFill>
            <a:srgbClr val="B8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1271016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Bharat Kirana</a:t>
            </a:r>
          </a:p>
          <a:p>
            <a:pPr algn="l">
              <a:lnSpc>
                <a:spcPct val="90000"/>
              </a:lnSpc>
            </a:pPr>
            <a:r>
              <a:rPr sz="550" b="0">
                <a:solidFill>
                  <a:srgbClr val="CDEDE4"/>
                </a:solidFill>
                <a:latin typeface="Calibri"/>
              </a:rPr>
              <a:t>business account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48656" y="1563624"/>
            <a:ext cx="1682495" cy="2990088"/>
          </a:xfrm>
          <a:prstGeom prst="rect">
            <a:avLst/>
          </a:prstGeom>
          <a:solidFill>
            <a:srgbClr val="EC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12664" y="1673352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58384" y="1682496"/>
            <a:ext cx="1243584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95000"/>
              </a:lnSpc>
            </a:pPr>
            <a:r>
              <a:rPr sz="680" b="0">
                <a:solidFill>
                  <a:srgbClr val="111B21"/>
                </a:solidFill>
                <a:latin typeface="Calibri"/>
              </a:rPr>
              <a:t>Namaste! 👋 Here you go: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12664" y="2112264"/>
            <a:ext cx="14630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76672" y="2185416"/>
            <a:ext cx="1335024" cy="713232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6672" y="2185416"/>
            <a:ext cx="1335024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650" b="0">
                <a:solidFill>
                  <a:srgbClr val="9AA3AD"/>
                </a:solidFill>
                <a:latin typeface="Calibri"/>
              </a:rPr>
              <a:t>▦ image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85816" y="2935224"/>
            <a:ext cx="1316736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111B21"/>
                </a:solidFill>
                <a:latin typeface="Calibri"/>
              </a:rPr>
              <a:t>Aashirvaad Atta 10kg</a:t>
            </a:r>
          </a:p>
          <a:p>
            <a:pPr algn="l">
              <a:lnSpc>
                <a:spcPct val="100000"/>
              </a:lnSpc>
            </a:pPr>
            <a:r>
              <a:rPr sz="900" b="1">
                <a:solidFill>
                  <a:srgbClr val="075E54"/>
                </a:solidFill>
                <a:latin typeface="Calibri"/>
              </a:rPr>
              <a:t>₹545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85816" y="3438144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＋  Add to cart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94376" y="427939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58384" y="4270248"/>
            <a:ext cx="1179575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650" b="0">
                <a:solidFill>
                  <a:srgbClr val="667781"/>
                </a:solidFill>
                <a:latin typeface="Calibri"/>
              </a:rPr>
              <a:t>Message</a:t>
            </a:r>
          </a:p>
        </p:txBody>
      </p:sp>
      <p:sp>
        <p:nvSpPr>
          <p:cNvPr id="37" name="Oval 36"/>
          <p:cNvSpPr/>
          <p:nvPr/>
        </p:nvSpPr>
        <p:spPr>
          <a:xfrm>
            <a:off x="6629400" y="4270248"/>
            <a:ext cx="237744" cy="23774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270248"/>
            <a:ext cx="237744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01100" y="1188720"/>
            <a:ext cx="1783080" cy="3429000"/>
          </a:xfrm>
          <a:prstGeom prst="roundRect">
            <a:avLst>
              <a:gd name="adj" fmla="val 9000"/>
            </a:avLst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851392" y="1252728"/>
            <a:ext cx="1682495" cy="3300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51392" y="1252728"/>
            <a:ext cx="1682495" cy="310896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0" y="1252728"/>
            <a:ext cx="14630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‹</a:t>
            </a:r>
          </a:p>
        </p:txBody>
      </p:sp>
      <p:sp>
        <p:nvSpPr>
          <p:cNvPr id="43" name="Oval 42"/>
          <p:cNvSpPr/>
          <p:nvPr/>
        </p:nvSpPr>
        <p:spPr>
          <a:xfrm>
            <a:off x="9034272" y="1298448"/>
            <a:ext cx="219456" cy="219456"/>
          </a:xfrm>
          <a:prstGeom prst="ellipse">
            <a:avLst/>
          </a:prstGeom>
          <a:solidFill>
            <a:srgbClr val="B8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90304" y="1271016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Bharat Kirana</a:t>
            </a:r>
          </a:p>
          <a:p>
            <a:pPr algn="l">
              <a:lnSpc>
                <a:spcPct val="90000"/>
              </a:lnSpc>
            </a:pPr>
            <a:r>
              <a:rPr sz="550" b="0">
                <a:solidFill>
                  <a:srgbClr val="CDEDE4"/>
                </a:solidFill>
                <a:latin typeface="Calibri"/>
              </a:rPr>
              <a:t>business account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51392" y="1563624"/>
            <a:ext cx="1682495" cy="2990088"/>
          </a:xfrm>
          <a:prstGeom prst="rect">
            <a:avLst/>
          </a:prstGeom>
          <a:solidFill>
            <a:srgbClr val="EC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42832" y="1709928"/>
            <a:ext cx="14630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34272" y="1773936"/>
            <a:ext cx="128016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111B21"/>
                </a:solidFill>
                <a:latin typeface="Calibri"/>
              </a:rPr>
              <a:t>🛒  Your cart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34272" y="2039112"/>
            <a:ext cx="12801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34272" y="2112264"/>
            <a:ext cx="9601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95000"/>
              </a:lnSpc>
            </a:pPr>
            <a:r>
              <a:rPr sz="680" b="0">
                <a:solidFill>
                  <a:srgbClr val="111B21"/>
                </a:solidFill>
                <a:latin typeface="Calibri"/>
              </a:rPr>
              <a:t>Aashirvaad Atta 10kg ×1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8672" y="2112264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680" b="1">
                <a:solidFill>
                  <a:srgbClr val="111B21"/>
                </a:solidFill>
                <a:latin typeface="Calibri"/>
              </a:rPr>
              <a:t>₹545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2423160"/>
            <a:ext cx="9601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95000"/>
              </a:lnSpc>
            </a:pPr>
            <a:r>
              <a:rPr sz="680" b="0">
                <a:solidFill>
                  <a:srgbClr val="111B21"/>
                </a:solidFill>
                <a:latin typeface="Calibri"/>
              </a:rPr>
              <a:t>Tata Salt 1kg ×2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8672" y="2423160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680" b="1">
                <a:solidFill>
                  <a:srgbClr val="111B21"/>
                </a:solidFill>
                <a:latin typeface="Calibri"/>
              </a:rPr>
              <a:t>₹56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34272" y="2752344"/>
            <a:ext cx="12801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34272" y="2807208"/>
            <a:ext cx="10058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720" b="1">
                <a:solidFill>
                  <a:srgbClr val="111B21"/>
                </a:solidFill>
                <a:latin typeface="Calibri"/>
              </a:rPr>
              <a:t>Subtotal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48672" y="2807208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800" b="1">
                <a:solidFill>
                  <a:srgbClr val="075E54"/>
                </a:solidFill>
                <a:latin typeface="Calibri"/>
              </a:rPr>
              <a:t>₹601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34272" y="315467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Checkout  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97112" y="427939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19" y="4270248"/>
            <a:ext cx="1179575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650" b="0">
                <a:solidFill>
                  <a:srgbClr val="667781"/>
                </a:solidFill>
                <a:latin typeface="Calibri"/>
              </a:rPr>
              <a:t>Message</a:t>
            </a:r>
          </a:p>
        </p:txBody>
      </p:sp>
      <p:sp>
        <p:nvSpPr>
          <p:cNvPr id="59" name="Oval 58"/>
          <p:cNvSpPr/>
          <p:nvPr/>
        </p:nvSpPr>
        <p:spPr>
          <a:xfrm>
            <a:off x="10232136" y="4270248"/>
            <a:ext cx="237744" cy="23774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32136" y="4270248"/>
            <a:ext cx="237744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➤</a:t>
            </a:r>
          </a:p>
        </p:txBody>
      </p:sp>
      <p:sp>
        <p:nvSpPr>
          <p:cNvPr id="61" name="Oval 60"/>
          <p:cNvSpPr/>
          <p:nvPr/>
        </p:nvSpPr>
        <p:spPr>
          <a:xfrm>
            <a:off x="2871216" y="3675888"/>
            <a:ext cx="237744" cy="23774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2" name="Oval 61"/>
          <p:cNvSpPr/>
          <p:nvPr/>
        </p:nvSpPr>
        <p:spPr>
          <a:xfrm>
            <a:off x="2871216" y="3675888"/>
            <a:ext cx="237744" cy="237744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28232" y="2212848"/>
            <a:ext cx="237744" cy="23774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4" name="Oval 63"/>
          <p:cNvSpPr/>
          <p:nvPr/>
        </p:nvSpPr>
        <p:spPr>
          <a:xfrm>
            <a:off x="6428232" y="2212848"/>
            <a:ext cx="237744" cy="237744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030967" y="3282696"/>
            <a:ext cx="237744" cy="23774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6" name="Oval 65"/>
          <p:cNvSpPr/>
          <p:nvPr/>
        </p:nvSpPr>
        <p:spPr>
          <a:xfrm>
            <a:off x="10030967" y="3282696"/>
            <a:ext cx="237744" cy="237744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359152" y="4681728"/>
            <a:ext cx="256032" cy="256032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8" y="5029200"/>
            <a:ext cx="3383280" cy="11887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11B21"/>
                </a:solidFill>
                <a:latin typeface="Calibri"/>
              </a:rPr>
              <a:t>The CTWA ad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67781"/>
                </a:solidFill>
                <a:latin typeface="Calibri"/>
              </a:rPr>
              <a:t>‘Shop on WhatsApp’ CTA. Ad &amp; campaign ID ride the tap.</a:t>
            </a:r>
          </a:p>
        </p:txBody>
      </p:sp>
      <p:sp>
        <p:nvSpPr>
          <p:cNvPr id="69" name="Oval 68"/>
          <p:cNvSpPr/>
          <p:nvPr/>
        </p:nvSpPr>
        <p:spPr>
          <a:xfrm>
            <a:off x="5961888" y="4681728"/>
            <a:ext cx="256032" cy="256032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98264" y="5029200"/>
            <a:ext cx="3383280" cy="11887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11B21"/>
                </a:solidFill>
                <a:latin typeface="Calibri"/>
              </a:rPr>
              <a:t>Chat opens on the product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67781"/>
                </a:solidFill>
                <a:latin typeface="Calibri"/>
              </a:rPr>
              <a:t>Native in-chat catalog — the conversation is the storefront.</a:t>
            </a:r>
          </a:p>
        </p:txBody>
      </p:sp>
      <p:sp>
        <p:nvSpPr>
          <p:cNvPr id="71" name="Oval 70"/>
          <p:cNvSpPr/>
          <p:nvPr/>
        </p:nvSpPr>
        <p:spPr>
          <a:xfrm>
            <a:off x="9564624" y="4681728"/>
            <a:ext cx="256032" cy="256032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01000" y="5029200"/>
            <a:ext cx="3383280" cy="11887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11B21"/>
                </a:solidFill>
                <a:latin typeface="Calibri"/>
              </a:rPr>
              <a:t>In-chat cart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67781"/>
                </a:solidFill>
                <a:latin typeface="Calibri"/>
              </a:rPr>
              <a:t>Cart persists in the thread. One tap to checkout.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Flow ④–⑥ : Checkout → Pay → Confirm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× CTWA — Closed-Loop Checkout · UX Wireframes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4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95628" y="1188720"/>
            <a:ext cx="1783080" cy="3429000"/>
          </a:xfrm>
          <a:prstGeom prst="roundRect">
            <a:avLst>
              <a:gd name="adj" fmla="val 9000"/>
            </a:avLst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20" y="1252728"/>
            <a:ext cx="1682495" cy="3300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0" y="1252728"/>
            <a:ext cx="1682495" cy="310896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1252728"/>
            <a:ext cx="14630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‹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0" y="1298448"/>
            <a:ext cx="219456" cy="219456"/>
          </a:xfrm>
          <a:prstGeom prst="ellipse">
            <a:avLst/>
          </a:prstGeom>
          <a:solidFill>
            <a:srgbClr val="B8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1271016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Bharat Kirana</a:t>
            </a:r>
          </a:p>
          <a:p>
            <a:pPr algn="l">
              <a:lnSpc>
                <a:spcPct val="90000"/>
              </a:lnSpc>
            </a:pPr>
            <a:r>
              <a:rPr sz="550" b="0">
                <a:solidFill>
                  <a:srgbClr val="CDEDE4"/>
                </a:solidFill>
                <a:latin typeface="Calibri"/>
              </a:rPr>
              <a:t>business account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563624"/>
            <a:ext cx="1682495" cy="2990088"/>
          </a:xfrm>
          <a:prstGeom prst="rect">
            <a:avLst/>
          </a:prstGeom>
          <a:solidFill>
            <a:srgbClr val="CFC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45920" y="1892808"/>
            <a:ext cx="1682495" cy="2660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77439" y="1938528"/>
            <a:ext cx="219456" cy="36576"/>
          </a:xfrm>
          <a:prstGeom prst="ellipse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002536"/>
            <a:ext cx="1499616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11B21"/>
                </a:solidFill>
                <a:latin typeface="Calibri"/>
              </a:rPr>
              <a:t>Checkout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002536"/>
            <a:ext cx="1499616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650" b="0">
                <a:solidFill>
                  <a:srgbClr val="667781"/>
                </a:solidFill>
                <a:latin typeface="Calibri"/>
              </a:rPr>
              <a:t>2 items · ₹601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37360" y="2276856"/>
            <a:ext cx="1499616" cy="310896"/>
          </a:xfrm>
          <a:prstGeom prst="roundRect">
            <a:avLst>
              <a:gd name="adj" fmla="val 20000"/>
            </a:avLst>
          </a:prstGeom>
          <a:solidFill>
            <a:srgbClr val="F7F7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92224" y="2276856"/>
            <a:ext cx="117957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90000"/>
              </a:lnSpc>
            </a:pPr>
            <a:r>
              <a:rPr sz="630" b="0">
                <a:solidFill>
                  <a:srgbClr val="111B21"/>
                </a:solidFill>
                <a:latin typeface="Calibri"/>
              </a:rPr>
              <a:t>📍 Home — Flat 4B, Indira Nagar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276856"/>
            <a:ext cx="36576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600" b="1">
                <a:solidFill>
                  <a:srgbClr val="075E54"/>
                </a:solidFill>
                <a:latin typeface="Calibri"/>
              </a:rPr>
              <a:t>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642616"/>
            <a:ext cx="1499616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00" b="1">
                <a:solidFill>
                  <a:srgbClr val="667781"/>
                </a:solidFill>
                <a:latin typeface="Calibri"/>
              </a:rPr>
              <a:t>PAYMENT METHOD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37360" y="2825496"/>
            <a:ext cx="1499616" cy="384048"/>
          </a:xfrm>
          <a:prstGeom prst="roundRect">
            <a:avLst>
              <a:gd name="adj" fmla="val 16000"/>
            </a:avLst>
          </a:prstGeom>
          <a:solidFill>
            <a:srgbClr val="E8F7F0"/>
          </a:solidFill>
          <a:ln w="190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01368" y="2935224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24228" y="2958084"/>
            <a:ext cx="100584" cy="10058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2825496"/>
            <a:ext cx="1225295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90000"/>
              </a:lnSpc>
            </a:pPr>
            <a:r>
              <a:rPr sz="750" b="1">
                <a:solidFill>
                  <a:srgbClr val="111B21"/>
                </a:solidFill>
                <a:latin typeface="Calibri"/>
              </a:rPr>
              <a:t>WhatsApp Pay</a:t>
            </a:r>
          </a:p>
          <a:p>
            <a:pPr algn="l">
              <a:lnSpc>
                <a:spcPct val="90000"/>
              </a:lnSpc>
            </a:pPr>
            <a:r>
              <a:rPr sz="580" b="0">
                <a:solidFill>
                  <a:srgbClr val="075E54"/>
                </a:solidFill>
                <a:latin typeface="Calibri"/>
              </a:rPr>
              <a:t>UPI · default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2825496"/>
            <a:ext cx="2011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25D366"/>
                </a:solidFill>
                <a:latin typeface="Calibri"/>
              </a:rP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37360" y="3264408"/>
            <a:ext cx="1499616" cy="3291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01368" y="3355848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D9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3264408"/>
            <a:ext cx="1225295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700" b="0">
                <a:solidFill>
                  <a:srgbClr val="667781"/>
                </a:solidFill>
                <a:latin typeface="Calibri"/>
              </a:rPr>
              <a:t>Other UPI apps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5648" y="3685032"/>
            <a:ext cx="1499616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700" b="0">
                <a:solidFill>
                  <a:srgbClr val="111B21"/>
                </a:solidFill>
                <a:latin typeface="Calibri"/>
              </a:rPr>
              <a:t>To pay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3685032"/>
            <a:ext cx="1481328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111B21"/>
                </a:solidFill>
                <a:latin typeface="Calibri"/>
              </a:rPr>
              <a:t>₹601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37360" y="3941064"/>
            <a:ext cx="1499616" cy="310896"/>
          </a:xfrm>
          <a:prstGeom prst="roundRect">
            <a:avLst>
              <a:gd name="adj" fmla="val 50000"/>
            </a:avLst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Pay ₹601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98364" y="1188720"/>
            <a:ext cx="1783080" cy="3429000"/>
          </a:xfrm>
          <a:prstGeom prst="roundRect">
            <a:avLst>
              <a:gd name="adj" fmla="val 9000"/>
            </a:avLst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48656" y="1252728"/>
            <a:ext cx="1682495" cy="3300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48656" y="1252728"/>
            <a:ext cx="1682495" cy="330098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48656" y="1252728"/>
            <a:ext cx="1682495" cy="4572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48656" y="1289304"/>
            <a:ext cx="1682495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🔒 Enter UPI PIN</a:t>
            </a:r>
          </a:p>
          <a:p>
            <a:pPr algn="ctr">
              <a:lnSpc>
                <a:spcPct val="90000"/>
              </a:lnSpc>
            </a:pPr>
            <a:r>
              <a:rPr sz="600" b="0">
                <a:solidFill>
                  <a:srgbClr val="CDEDE4"/>
                </a:solidFill>
                <a:latin typeface="Calibri"/>
              </a:rPr>
              <a:t>HDFC Bank ····1234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6" y="1801368"/>
            <a:ext cx="1499616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680" b="1">
                <a:solidFill>
                  <a:srgbClr val="111B21"/>
                </a:solidFill>
                <a:latin typeface="Calibri"/>
              </a:rPr>
              <a:t>Paying ₹601 to Bharat Kirana</a:t>
            </a:r>
          </a:p>
        </p:txBody>
      </p:sp>
      <p:sp>
        <p:nvSpPr>
          <p:cNvPr id="40" name="Oval 39"/>
          <p:cNvSpPr/>
          <p:nvPr/>
        </p:nvSpPr>
        <p:spPr>
          <a:xfrm>
            <a:off x="5678424" y="2167128"/>
            <a:ext cx="91440" cy="91440"/>
          </a:xfrm>
          <a:prstGeom prst="ellipse">
            <a:avLst/>
          </a:prstGeom>
          <a:solidFill>
            <a:srgbClr val="11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824728" y="2167128"/>
            <a:ext cx="91440" cy="91440"/>
          </a:xfrm>
          <a:prstGeom prst="ellipse">
            <a:avLst/>
          </a:prstGeom>
          <a:solidFill>
            <a:srgbClr val="11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971032" y="2167128"/>
            <a:ext cx="91440" cy="91440"/>
          </a:xfrm>
          <a:prstGeom prst="ellipse">
            <a:avLst/>
          </a:prstGeom>
          <a:solidFill>
            <a:srgbClr val="11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17336" y="2167128"/>
            <a:ext cx="91440" cy="91440"/>
          </a:xfrm>
          <a:prstGeom prst="ellipse">
            <a:avLst/>
          </a:prstGeom>
          <a:solidFill>
            <a:srgbClr val="11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63640" y="2167128"/>
            <a:ext cx="91440" cy="91440"/>
          </a:xfrm>
          <a:prstGeom prst="ellipse">
            <a:avLst/>
          </a:prstGeom>
          <a:noFill/>
          <a:ln w="12700">
            <a:solidFill>
              <a:srgbClr val="8D9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9944" y="2167128"/>
            <a:ext cx="91440" cy="91440"/>
          </a:xfrm>
          <a:prstGeom prst="ellipse">
            <a:avLst/>
          </a:prstGeom>
          <a:noFill/>
          <a:ln w="12700">
            <a:solidFill>
              <a:srgbClr val="8D9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58968" y="2487168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58968" y="2487168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97880" y="2487168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97880" y="2487168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36792" y="2487168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2" y="2487168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58968" y="2816352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58968" y="2816352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97880" y="2816352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2816352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36792" y="2816352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6792" y="2816352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58968" y="3145536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58968" y="3145536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7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97880" y="3145536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97880" y="3145536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36792" y="3145536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36792" y="3145536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897880" y="3474720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97880" y="3474720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36792" y="3474720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36792" y="3474720"/>
            <a:ext cx="384048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11B21"/>
                </a:solidFill>
                <a:latin typeface="Calibri"/>
              </a:rPr>
              <a:t>⌫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48656" y="4352544"/>
            <a:ext cx="1682495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580" b="0">
                <a:solidFill>
                  <a:srgbClr val="667781"/>
                </a:solidFill>
                <a:latin typeface="Calibri"/>
              </a:rPr>
              <a:t>Secured by UPI · NPCI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01100" y="1188720"/>
            <a:ext cx="1783080" cy="3429000"/>
          </a:xfrm>
          <a:prstGeom prst="roundRect">
            <a:avLst>
              <a:gd name="adj" fmla="val 9000"/>
            </a:avLst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851392" y="1252728"/>
            <a:ext cx="1682495" cy="3300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51392" y="1252728"/>
            <a:ext cx="1682495" cy="310896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69680" y="1252728"/>
            <a:ext cx="14630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‹</a:t>
            </a:r>
          </a:p>
        </p:txBody>
      </p:sp>
      <p:sp>
        <p:nvSpPr>
          <p:cNvPr id="73" name="Oval 72"/>
          <p:cNvSpPr/>
          <p:nvPr/>
        </p:nvSpPr>
        <p:spPr>
          <a:xfrm>
            <a:off x="9034272" y="1298448"/>
            <a:ext cx="219456" cy="219456"/>
          </a:xfrm>
          <a:prstGeom prst="ellipse">
            <a:avLst/>
          </a:prstGeom>
          <a:solidFill>
            <a:srgbClr val="B8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90304" y="1271016"/>
            <a:ext cx="104241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Bharat Kirana</a:t>
            </a:r>
          </a:p>
          <a:p>
            <a:pPr algn="l">
              <a:lnSpc>
                <a:spcPct val="90000"/>
              </a:lnSpc>
            </a:pPr>
            <a:r>
              <a:rPr sz="550" b="0">
                <a:solidFill>
                  <a:srgbClr val="CDEDE4"/>
                </a:solidFill>
                <a:latin typeface="Calibri"/>
              </a:rPr>
              <a:t>business account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51392" y="1563624"/>
            <a:ext cx="1682495" cy="2990088"/>
          </a:xfrm>
          <a:prstGeom prst="rect">
            <a:avLst/>
          </a:prstGeom>
          <a:solidFill>
            <a:srgbClr val="EC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91472" y="1709928"/>
            <a:ext cx="402336" cy="40233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42832" y="2167128"/>
            <a:ext cx="1499616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075E54"/>
                </a:solidFill>
                <a:latin typeface="Calibri"/>
              </a:rPr>
              <a:t>Payment Successful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61119" y="2478024"/>
            <a:ext cx="1417320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52559" y="2551176"/>
            <a:ext cx="1234440" cy="1371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750" b="1">
                <a:solidFill>
                  <a:srgbClr val="111B21"/>
                </a:solidFill>
                <a:latin typeface="Calibri"/>
              </a:rPr>
              <a:t>Order #BK-10293  ✓</a:t>
            </a:r>
          </a:p>
          <a:p>
            <a:pPr algn="l">
              <a:lnSpc>
                <a:spcPct val="95000"/>
              </a:lnSpc>
            </a:pPr>
            <a:r>
              <a:rPr sz="650" b="0">
                <a:solidFill>
                  <a:srgbClr val="111B21"/>
                </a:solidFill>
                <a:latin typeface="Calibri"/>
              </a:rPr>
              <a:t>Aashirvaad Atta 10kg ×1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650" b="0">
                <a:solidFill>
                  <a:srgbClr val="111B21"/>
                </a:solidFill>
                <a:latin typeface="Calibri"/>
              </a:rPr>
              <a:t>Tata Salt 1kg ×2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680" b="1">
                <a:solidFill>
                  <a:srgbClr val="075E54"/>
                </a:solidFill>
                <a:latin typeface="Calibri"/>
              </a:rPr>
              <a:t>Paid ₹601 · WhatsApp Pay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52559" y="357530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Track order  →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897112" y="427939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61119" y="4270248"/>
            <a:ext cx="1179575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650" b="0">
                <a:solidFill>
                  <a:srgbClr val="667781"/>
                </a:solidFill>
                <a:latin typeface="Calibri"/>
              </a:rPr>
              <a:t>Message</a:t>
            </a:r>
          </a:p>
        </p:txBody>
      </p:sp>
      <p:sp>
        <p:nvSpPr>
          <p:cNvPr id="83" name="Oval 82"/>
          <p:cNvSpPr/>
          <p:nvPr/>
        </p:nvSpPr>
        <p:spPr>
          <a:xfrm>
            <a:off x="10232136" y="4270248"/>
            <a:ext cx="237744" cy="23774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32136" y="4270248"/>
            <a:ext cx="237744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➤</a:t>
            </a:r>
          </a:p>
        </p:txBody>
      </p:sp>
      <p:sp>
        <p:nvSpPr>
          <p:cNvPr id="85" name="Oval 84"/>
          <p:cNvSpPr/>
          <p:nvPr/>
        </p:nvSpPr>
        <p:spPr>
          <a:xfrm>
            <a:off x="2825496" y="2624328"/>
            <a:ext cx="237744" cy="237744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6" name="Oval 85"/>
          <p:cNvSpPr/>
          <p:nvPr/>
        </p:nvSpPr>
        <p:spPr>
          <a:xfrm>
            <a:off x="2825496" y="2624328"/>
            <a:ext cx="237744" cy="237744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36792" y="2212848"/>
            <a:ext cx="237744" cy="23774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8" name="Oval 87"/>
          <p:cNvSpPr/>
          <p:nvPr/>
        </p:nvSpPr>
        <p:spPr>
          <a:xfrm>
            <a:off x="6336792" y="2212848"/>
            <a:ext cx="237744" cy="237744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030967" y="2624328"/>
            <a:ext cx="237744" cy="23774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0" name="Oval 89"/>
          <p:cNvSpPr/>
          <p:nvPr/>
        </p:nvSpPr>
        <p:spPr>
          <a:xfrm>
            <a:off x="10030967" y="2624328"/>
            <a:ext cx="237744" cy="237744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59152" y="4681728"/>
            <a:ext cx="256032" cy="256032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5528" y="5029200"/>
            <a:ext cx="3383280" cy="11887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11B21"/>
                </a:solidFill>
                <a:latin typeface="Calibri"/>
              </a:rPr>
              <a:t>Checkout — Pay is the default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67781"/>
                </a:solidFill>
                <a:latin typeface="Calibri"/>
              </a:rPr>
              <a:t>WhatsApp Pay pre-selected. Other UPI apps stay available.</a:t>
            </a:r>
          </a:p>
        </p:txBody>
      </p:sp>
      <p:sp>
        <p:nvSpPr>
          <p:cNvPr id="93" name="Oval 92"/>
          <p:cNvSpPr/>
          <p:nvPr/>
        </p:nvSpPr>
        <p:spPr>
          <a:xfrm>
            <a:off x="5961888" y="4681728"/>
            <a:ext cx="256032" cy="256032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98264" y="5029200"/>
            <a:ext cx="3383280" cy="11887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11B21"/>
                </a:solidFill>
                <a:latin typeface="Calibri"/>
              </a:rPr>
              <a:t>UPI PIN, in context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67781"/>
                </a:solidFill>
                <a:latin typeface="Calibri"/>
              </a:rPr>
              <a:t>NPCI PIN flow; returns straight to the chat. Amount is server-set.</a:t>
            </a:r>
          </a:p>
        </p:txBody>
      </p:sp>
      <p:sp>
        <p:nvSpPr>
          <p:cNvPr id="95" name="Oval 94"/>
          <p:cNvSpPr/>
          <p:nvPr/>
        </p:nvSpPr>
        <p:spPr>
          <a:xfrm>
            <a:off x="9564624" y="4681728"/>
            <a:ext cx="256032" cy="256032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01000" y="5029200"/>
            <a:ext cx="3383280" cy="11887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11B21"/>
                </a:solidFill>
                <a:latin typeface="Calibri"/>
              </a:rPr>
              <a:t>Receipt as a chat message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67781"/>
                </a:solidFill>
                <a:latin typeface="Calibri"/>
              </a:rPr>
              <a:t>Order confirmation lives in the thread → a re-engagement surface.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Loop Closes: ₹0 Payment → Ad Attribution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THE PAYOFF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× CTWA — Closed-Loop Checkout · UX Wireframes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5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71600"/>
            <a:ext cx="512064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75E54"/>
                </a:solidFill>
                <a:latin typeface="Calibri"/>
              </a:rPr>
              <a:t>✓  Payment completed in WhatsApp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2286000"/>
            <a:ext cx="274320" cy="274320"/>
          </a:xfrm>
          <a:prstGeom prst="ellipse">
            <a:avLst/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512064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→  First-party purchase event fires,
     keyed to the CTWA ad / campaign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0" y="3429000"/>
            <a:ext cx="274320" cy="274320"/>
          </a:xfrm>
          <a:prstGeom prst="ellipse">
            <a:avLst/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512064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→  Ads ranking optimizes + advertiser
     sees ROAS &amp; cost-per-purchase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371600"/>
            <a:ext cx="51206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371600"/>
            <a:ext cx="475488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◐  Meta Ads Manager · CTWA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965960"/>
            <a:ext cx="31089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11B21"/>
                </a:solidFill>
                <a:latin typeface="Calibri"/>
              </a:rPr>
              <a:t>Campaign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965960"/>
            <a:ext cx="17830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200" b="1">
                <a:solidFill>
                  <a:srgbClr val="111B21"/>
                </a:solidFill>
                <a:latin typeface="Calibri"/>
              </a:rPr>
              <a:t>Diwali Grocery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350008"/>
            <a:ext cx="4937760" cy="36576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350008"/>
            <a:ext cx="31089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11B21"/>
                </a:solidFill>
                <a:latin typeface="Calibri"/>
              </a:rPr>
              <a:t>Conversations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350008"/>
            <a:ext cx="17830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200" b="1">
                <a:solidFill>
                  <a:srgbClr val="111B21"/>
                </a:solidFill>
                <a:latin typeface="Calibri"/>
              </a:rPr>
              <a:t>1,240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734056"/>
            <a:ext cx="31089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11B21"/>
                </a:solidFill>
                <a:latin typeface="Calibri"/>
              </a:rPr>
              <a:t>Purchases  (closed-loop)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734056"/>
            <a:ext cx="17830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200" b="1">
                <a:solidFill>
                  <a:srgbClr val="075E54"/>
                </a:solidFill>
                <a:latin typeface="Calibri"/>
              </a:rPr>
              <a:t>386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118103"/>
            <a:ext cx="4937760" cy="36576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118103"/>
            <a:ext cx="31089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11B21"/>
                </a:solidFill>
                <a:latin typeface="Calibri"/>
              </a:rPr>
              <a:t>Cost / purchase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118103"/>
            <a:ext cx="17830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200" b="1">
                <a:solidFill>
                  <a:srgbClr val="111B21"/>
                </a:solidFill>
                <a:latin typeface="Calibri"/>
              </a:rPr>
              <a:t>₹49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502151"/>
            <a:ext cx="31089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11B21"/>
                </a:solidFill>
                <a:latin typeface="Calibri"/>
              </a:rPr>
              <a:t>Purchase value (GMV)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502151"/>
            <a:ext cx="17830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200" b="1">
                <a:solidFill>
                  <a:srgbClr val="111B21"/>
                </a:solidFill>
                <a:latin typeface="Calibri"/>
              </a:rPr>
              <a:t>₹2.3L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886200"/>
            <a:ext cx="4937760" cy="36576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886200"/>
            <a:ext cx="31089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11B21"/>
                </a:solidFill>
                <a:latin typeface="Calibri"/>
              </a:rPr>
              <a:t>ROAS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886200"/>
            <a:ext cx="17830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200" b="1">
                <a:solidFill>
                  <a:srgbClr val="075E54"/>
                </a:solidFill>
                <a:latin typeface="Calibri"/>
              </a:rPr>
              <a:t>6.2×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224528"/>
            <a:ext cx="475488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900" b="1" i="1">
                <a:solidFill>
                  <a:srgbClr val="25D366"/>
                </a:solidFill>
                <a:latin typeface="Calibri"/>
              </a:rPr>
              <a:t>▲ 386 purchases now measured first-party — previously invisible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029200"/>
            <a:ext cx="10908792" cy="1097280"/>
          </a:xfrm>
          <a:prstGeom prst="roundRect">
            <a:avLst>
              <a:gd name="adj" fmla="val 6000"/>
            </a:avLst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20640"/>
            <a:ext cx="10360152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D366"/>
                </a:solidFill>
                <a:latin typeface="Calibri"/>
              </a:rPr>
              <a:t>This event is the entire point.  </a:t>
            </a:r>
            <a:r>
              <a:rPr sz="1250" b="0">
                <a:solidFill>
                  <a:srgbClr val="FFFFFF"/>
                </a:solidFill>
                <a:latin typeface="Calibri"/>
              </a:rPr>
              <a:t>A UPI payment worth ₹0 to Meta becomes a measured conversion that makes CTWA ads more effective — and more valuable.</a:t>
            </a:r>
          </a:p>
          <a:p>
            <a:pPr algn="l">
              <a:spcBef>
                <a:spcPts val="400"/>
              </a:spcBef>
            </a:pPr>
            <a:r>
              <a:rPr sz="1100" b="0" i="1">
                <a:solidFill>
                  <a:srgbClr val="C9D1D6"/>
                </a:solidFill>
                <a:latin typeface="Calibri"/>
              </a:rPr>
              <a:t>That is the positive LTV the diagnosis said was missing — without changing UPI economics at 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Design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× CTWA — Closed-Loop Checkout · UX Wireframes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6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109728" cy="150876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1380744"/>
            <a:ext cx="420624" cy="420624"/>
          </a:xfrm>
          <a:prstGeom prst="ellipse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362456"/>
            <a:ext cx="265176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11B21"/>
                </a:solidFill>
                <a:latin typeface="Calibri"/>
              </a:rPr>
              <a:t>Default, not exclusive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667781"/>
                </a:solidFill>
                <a:latin typeface="Calibri"/>
              </a:rPr>
              <a:t>WhatsApp Pay is pre-selected at checkout — but other UPI apps stay available, keeping the design defensible on self-preferencing.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109728" cy="150876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6008" y="1380744"/>
            <a:ext cx="420624" cy="420624"/>
          </a:xfrm>
          <a:prstGeom prst="ellipse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362456"/>
            <a:ext cx="265176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11B21"/>
                </a:solidFill>
                <a:latin typeface="Calibri"/>
              </a:rPr>
              <a:t>Never leave the chat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667781"/>
                </a:solidFill>
                <a:latin typeface="Calibri"/>
              </a:rPr>
              <a:t>Ad → catalog → cart → pay → receipt all happen in one surface. Every app-switch is a drop-off removed.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3444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109728" cy="1508760"/>
          </a:xfrm>
          <a:prstGeom prst="rect">
            <a:avLst/>
          </a:prstGeom>
          <a:solidFill>
            <a:srgbClr val="1AA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30768" y="1380744"/>
            <a:ext cx="420624" cy="420624"/>
          </a:xfrm>
          <a:prstGeom prst="ellipse">
            <a:avLst/>
          </a:prstGeom>
          <a:solidFill>
            <a:srgbClr val="1AA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362456"/>
            <a:ext cx="265176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11B21"/>
                </a:solidFill>
                <a:latin typeface="Calibri"/>
              </a:rPr>
              <a:t>Server-set amounts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667781"/>
                </a:solidFill>
                <a:latin typeface="Calibri"/>
              </a:rPr>
              <a:t>The payable amount comes from the cart, never user-typed — anti-fraud by construction.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99232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999232"/>
            <a:ext cx="109728" cy="150876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3145536"/>
            <a:ext cx="420624" cy="420624"/>
          </a:xfrm>
          <a:prstGeom prst="ellipse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127248"/>
            <a:ext cx="265176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11B21"/>
                </a:solidFill>
                <a:latin typeface="Calibri"/>
              </a:rPr>
              <a:t>Receipt = re-engagement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667781"/>
                </a:solidFill>
                <a:latin typeface="Calibri"/>
              </a:rPr>
              <a:t>The order confirmation is a chat message the shopper returns to — a durable surface for tracking, support, and repeat purchase.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2999232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2999232"/>
            <a:ext cx="109728" cy="150876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36008" y="3145536"/>
            <a:ext cx="420624" cy="420624"/>
          </a:xfrm>
          <a:prstGeom prst="ellipse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127248"/>
            <a:ext cx="265176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11B21"/>
                </a:solidFill>
                <a:latin typeface="Calibri"/>
              </a:rPr>
              <a:t>Acquisition = running an ad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667781"/>
                </a:solidFill>
                <a:latin typeface="Calibri"/>
              </a:rPr>
              <a:t>Adopting the checkout is a side-effect of running a CTWA ad → merchant CAC ≈ ₹0, the structural edge over a field-force build.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999232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2999232"/>
            <a:ext cx="109728" cy="1508760"/>
          </a:xfrm>
          <a:prstGeom prst="rect">
            <a:avLst/>
          </a:prstGeom>
          <a:solidFill>
            <a:srgbClr val="1AA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30768" y="3145536"/>
            <a:ext cx="420624" cy="420624"/>
          </a:xfrm>
          <a:prstGeom prst="ellipse">
            <a:avLst/>
          </a:prstGeom>
          <a:solidFill>
            <a:srgbClr val="1AA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127248"/>
            <a:ext cx="265176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11B21"/>
                </a:solidFill>
                <a:latin typeface="Calibri"/>
              </a:rPr>
              <a:t>Payment = measurement layer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667781"/>
                </a:solidFill>
                <a:latin typeface="Calibri"/>
              </a:rPr>
              <a:t>Every checkout emits a first-party conversion event. The payment stops being a cost and becomes CTWA’s attribution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